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1214"/>
    <a:srgbClr val="A18A52"/>
    <a:srgbClr val="DA2A40"/>
    <a:srgbClr val="C42C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77"/>
    <p:restoredTop sz="96327" autoAdjust="0"/>
  </p:normalViewPr>
  <p:slideViewPr>
    <p:cSldViewPr snapToGrid="0">
      <p:cViewPr>
        <p:scale>
          <a:sx n="25" d="100"/>
          <a:sy n="25" d="100"/>
        </p:scale>
        <p:origin x="18" y="18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987AA8-E2E4-6346-957B-53DDA6B87A4D}" type="datetimeFigureOut">
              <a:rPr lang="en-US" smtClean="0"/>
              <a:t>2/12/2026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EC17E-66F9-8D46-AB06-0783D4B00B76}" type="slidenum">
              <a:rPr lang="en-US" smtClean="0"/>
              <a:t>‹#›</a:t>
            </a:fld>
            <a:endParaRPr lang="en-US"/>
          </a:p>
        </p:txBody>
      </p:sp>
    </p:spTree>
    <p:extLst>
      <p:ext uri="{BB962C8B-B14F-4D97-AF65-F5344CB8AC3E}">
        <p14:creationId xmlns:p14="http://schemas.microsoft.com/office/powerpoint/2010/main" val="3920940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72EC17E-66F9-8D46-AB06-0783D4B00B76}" type="slidenum">
              <a:rPr lang="en-US" smtClean="0"/>
              <a:t>1</a:t>
            </a:fld>
            <a:endParaRPr lang="en-US"/>
          </a:p>
        </p:txBody>
      </p:sp>
    </p:spTree>
    <p:extLst>
      <p:ext uri="{BB962C8B-B14F-4D97-AF65-F5344CB8AC3E}">
        <p14:creationId xmlns:p14="http://schemas.microsoft.com/office/powerpoint/2010/main" val="2561075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A">
    <p:spTree>
      <p:nvGrpSpPr>
        <p:cNvPr id="1" name=""/>
        <p:cNvGrpSpPr/>
        <p:nvPr/>
      </p:nvGrpSpPr>
      <p:grpSpPr>
        <a:xfrm>
          <a:off x="0" y="0"/>
          <a:ext cx="0" cy="0"/>
          <a:chOff x="0" y="0"/>
          <a:chExt cx="0" cy="0"/>
        </a:xfrm>
      </p:grpSpPr>
      <p:sp>
        <p:nvSpPr>
          <p:cNvPr id="40" name="Text Placeholder 34">
            <a:extLst>
              <a:ext uri="{FF2B5EF4-FFF2-40B4-BE49-F238E27FC236}">
                <a16:creationId xmlns:a16="http://schemas.microsoft.com/office/drawing/2014/main" id="{348F3670-9616-6933-0D8C-D8F06235D894}"/>
              </a:ext>
            </a:extLst>
          </p:cNvPr>
          <p:cNvSpPr>
            <a:spLocks noGrp="1"/>
          </p:cNvSpPr>
          <p:nvPr>
            <p:ph type="body" sz="quarter" idx="32" hasCustomPrompt="1"/>
          </p:nvPr>
        </p:nvSpPr>
        <p:spPr>
          <a:xfrm>
            <a:off x="22417089" y="30175200"/>
            <a:ext cx="10058400" cy="1812244"/>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18" name="Content Placeholder 5">
            <a:extLst>
              <a:ext uri="{FF2B5EF4-FFF2-40B4-BE49-F238E27FC236}">
                <a16:creationId xmlns:a16="http://schemas.microsoft.com/office/drawing/2014/main" id="{5D040BE2-2A67-FBE0-A98F-B0D85AA19084}"/>
              </a:ext>
            </a:extLst>
          </p:cNvPr>
          <p:cNvSpPr>
            <a:spLocks noGrp="1"/>
          </p:cNvSpPr>
          <p:nvPr>
            <p:ph sz="quarter" idx="21" hasCustomPrompt="1"/>
          </p:nvPr>
        </p:nvSpPr>
        <p:spPr>
          <a:xfrm>
            <a:off x="22424573" y="25745169"/>
            <a:ext cx="100584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39" name="Text Placeholder 34">
            <a:extLst>
              <a:ext uri="{FF2B5EF4-FFF2-40B4-BE49-F238E27FC236}">
                <a16:creationId xmlns:a16="http://schemas.microsoft.com/office/drawing/2014/main" id="{A813508E-B9EB-6C09-E96C-12AA995DFC69}"/>
              </a:ext>
            </a:extLst>
          </p:cNvPr>
          <p:cNvSpPr>
            <a:spLocks noGrp="1"/>
          </p:cNvSpPr>
          <p:nvPr>
            <p:ph type="body" sz="quarter" idx="31" hasCustomPrompt="1"/>
          </p:nvPr>
        </p:nvSpPr>
        <p:spPr>
          <a:xfrm>
            <a:off x="29220661" y="21247101"/>
            <a:ext cx="3254828" cy="4114800"/>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16" name="Content Placeholder 5">
            <a:extLst>
              <a:ext uri="{FF2B5EF4-FFF2-40B4-BE49-F238E27FC236}">
                <a16:creationId xmlns:a16="http://schemas.microsoft.com/office/drawing/2014/main" id="{6CB25B35-8C3A-F255-4247-63CCF2DCEAA4}"/>
              </a:ext>
            </a:extLst>
          </p:cNvPr>
          <p:cNvSpPr>
            <a:spLocks noGrp="1"/>
          </p:cNvSpPr>
          <p:nvPr>
            <p:ph sz="quarter" idx="19" hasCustomPrompt="1"/>
          </p:nvPr>
        </p:nvSpPr>
        <p:spPr>
          <a:xfrm>
            <a:off x="22432057" y="21298582"/>
            <a:ext cx="64008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38" name="Text Placeholder 34">
            <a:extLst>
              <a:ext uri="{FF2B5EF4-FFF2-40B4-BE49-F238E27FC236}">
                <a16:creationId xmlns:a16="http://schemas.microsoft.com/office/drawing/2014/main" id="{CEB33FC1-5473-7A12-3E8D-C58CC21D28EF}"/>
              </a:ext>
            </a:extLst>
          </p:cNvPr>
          <p:cNvSpPr>
            <a:spLocks noGrp="1"/>
          </p:cNvSpPr>
          <p:nvPr>
            <p:ph type="body" sz="quarter" idx="30" hasCustomPrompt="1"/>
          </p:nvPr>
        </p:nvSpPr>
        <p:spPr>
          <a:xfrm>
            <a:off x="29228598" y="16800514"/>
            <a:ext cx="3254828" cy="4114800"/>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20" name="Content Placeholder 5">
            <a:extLst>
              <a:ext uri="{FF2B5EF4-FFF2-40B4-BE49-F238E27FC236}">
                <a16:creationId xmlns:a16="http://schemas.microsoft.com/office/drawing/2014/main" id="{6011BDB6-C438-5329-5DAC-2A45C1F447E4}"/>
              </a:ext>
            </a:extLst>
          </p:cNvPr>
          <p:cNvSpPr>
            <a:spLocks noGrp="1"/>
          </p:cNvSpPr>
          <p:nvPr>
            <p:ph sz="quarter" idx="23" hasCustomPrompt="1"/>
          </p:nvPr>
        </p:nvSpPr>
        <p:spPr>
          <a:xfrm>
            <a:off x="22432057" y="16817070"/>
            <a:ext cx="64008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37" name="Text Placeholder 34">
            <a:extLst>
              <a:ext uri="{FF2B5EF4-FFF2-40B4-BE49-F238E27FC236}">
                <a16:creationId xmlns:a16="http://schemas.microsoft.com/office/drawing/2014/main" id="{CEF88326-8D26-5EC1-BD8A-E1116CB170BB}"/>
              </a:ext>
            </a:extLst>
          </p:cNvPr>
          <p:cNvSpPr>
            <a:spLocks noGrp="1"/>
          </p:cNvSpPr>
          <p:nvPr>
            <p:ph type="body" sz="quarter" idx="29" hasCustomPrompt="1"/>
          </p:nvPr>
        </p:nvSpPr>
        <p:spPr>
          <a:xfrm>
            <a:off x="11415712" y="30191756"/>
            <a:ext cx="10058400" cy="1812244"/>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12" name="Content Placeholder 5">
            <a:extLst>
              <a:ext uri="{FF2B5EF4-FFF2-40B4-BE49-F238E27FC236}">
                <a16:creationId xmlns:a16="http://schemas.microsoft.com/office/drawing/2014/main" id="{129E9E52-3736-62F8-E282-CD10E8BFE7DC}"/>
              </a:ext>
            </a:extLst>
          </p:cNvPr>
          <p:cNvSpPr>
            <a:spLocks noGrp="1"/>
          </p:cNvSpPr>
          <p:nvPr>
            <p:ph sz="quarter" idx="15" hasCustomPrompt="1"/>
          </p:nvPr>
        </p:nvSpPr>
        <p:spPr>
          <a:xfrm>
            <a:off x="11408229" y="25728613"/>
            <a:ext cx="100584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6" name="Content Placeholder 5">
            <a:extLst>
              <a:ext uri="{FF2B5EF4-FFF2-40B4-BE49-F238E27FC236}">
                <a16:creationId xmlns:a16="http://schemas.microsoft.com/office/drawing/2014/main" id="{6E35A505-F2F6-EC1B-F2D5-1E9A1D8140EA}"/>
              </a:ext>
            </a:extLst>
          </p:cNvPr>
          <p:cNvSpPr>
            <a:spLocks noGrp="1"/>
          </p:cNvSpPr>
          <p:nvPr>
            <p:ph sz="quarter" idx="13" hasCustomPrompt="1"/>
          </p:nvPr>
        </p:nvSpPr>
        <p:spPr>
          <a:xfrm>
            <a:off x="15011854" y="21282026"/>
            <a:ext cx="64008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36" name="Text Placeholder 34">
            <a:extLst>
              <a:ext uri="{FF2B5EF4-FFF2-40B4-BE49-F238E27FC236}">
                <a16:creationId xmlns:a16="http://schemas.microsoft.com/office/drawing/2014/main" id="{025CF888-D949-CCC5-72E0-76825D0B59DD}"/>
              </a:ext>
            </a:extLst>
          </p:cNvPr>
          <p:cNvSpPr>
            <a:spLocks noGrp="1"/>
          </p:cNvSpPr>
          <p:nvPr>
            <p:ph type="body" sz="quarter" idx="28" hasCustomPrompt="1"/>
          </p:nvPr>
        </p:nvSpPr>
        <p:spPr>
          <a:xfrm>
            <a:off x="11415713" y="21298582"/>
            <a:ext cx="3254828" cy="4114800"/>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35" name="Text Placeholder 34">
            <a:extLst>
              <a:ext uri="{FF2B5EF4-FFF2-40B4-BE49-F238E27FC236}">
                <a16:creationId xmlns:a16="http://schemas.microsoft.com/office/drawing/2014/main" id="{2BE82858-A3ED-0689-7990-78BBAD5A2431}"/>
              </a:ext>
            </a:extLst>
          </p:cNvPr>
          <p:cNvSpPr>
            <a:spLocks noGrp="1"/>
          </p:cNvSpPr>
          <p:nvPr>
            <p:ph type="body" sz="quarter" idx="27" hasCustomPrompt="1"/>
          </p:nvPr>
        </p:nvSpPr>
        <p:spPr>
          <a:xfrm>
            <a:off x="18204316" y="16800514"/>
            <a:ext cx="3254828" cy="4114800"/>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14" name="Content Placeholder 5">
            <a:extLst>
              <a:ext uri="{FF2B5EF4-FFF2-40B4-BE49-F238E27FC236}">
                <a16:creationId xmlns:a16="http://schemas.microsoft.com/office/drawing/2014/main" id="{A36445EC-F62C-42DA-66E0-5DA2F7D8BEE9}"/>
              </a:ext>
            </a:extLst>
          </p:cNvPr>
          <p:cNvSpPr>
            <a:spLocks noGrp="1"/>
          </p:cNvSpPr>
          <p:nvPr>
            <p:ph sz="quarter" idx="17" hasCustomPrompt="1"/>
          </p:nvPr>
        </p:nvSpPr>
        <p:spPr>
          <a:xfrm>
            <a:off x="11415713" y="16800514"/>
            <a:ext cx="64008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30" name="Text Placeholder 29">
            <a:extLst>
              <a:ext uri="{FF2B5EF4-FFF2-40B4-BE49-F238E27FC236}">
                <a16:creationId xmlns:a16="http://schemas.microsoft.com/office/drawing/2014/main" id="{D77ADE4D-4ABA-E655-59C1-E92411C4EE8C}"/>
              </a:ext>
            </a:extLst>
          </p:cNvPr>
          <p:cNvSpPr>
            <a:spLocks noGrp="1"/>
          </p:cNvSpPr>
          <p:nvPr>
            <p:ph type="body" sz="quarter" idx="26" hasCustomPrompt="1"/>
          </p:nvPr>
        </p:nvSpPr>
        <p:spPr>
          <a:xfrm>
            <a:off x="914399" y="3546473"/>
            <a:ext cx="42062399" cy="649922"/>
          </a:xfrm>
          <a:prstGeom prst="rect">
            <a:avLst/>
          </a:prstGeom>
        </p:spPr>
        <p:txBody>
          <a:bodyPr>
            <a:spAutoFit/>
          </a:bodyPr>
          <a:lstStyle>
            <a:lvl1pPr marL="0" marR="0" indent="0" algn="l" defTabSz="4389120" rtl="0" eaLnBrk="1" fontAlgn="auto" latinLnBrk="0" hangingPunct="1">
              <a:lnSpc>
                <a:spcPct val="90000"/>
              </a:lnSpc>
              <a:spcBef>
                <a:spcPts val="4800"/>
              </a:spcBef>
              <a:spcAft>
                <a:spcPts val="0"/>
              </a:spcAft>
              <a:buClrTx/>
              <a:buSzTx/>
              <a:buFont typeface="Arial" panose="020B0604020202020204" pitchFamily="34" charset="0"/>
              <a:buNone/>
              <a:tabLst/>
              <a:defRPr sz="4000">
                <a:solidFill>
                  <a:schemeClr val="bg1"/>
                </a:solidFill>
              </a:defRPr>
            </a:lvl1pPr>
          </a:lstStyle>
          <a:p>
            <a:pPr marL="0" marR="0" lvl="0" indent="0" algn="l" defTabSz="4389120" rtl="0" eaLnBrk="1" fontAlgn="auto" latinLnBrk="0" hangingPunct="1">
              <a:lnSpc>
                <a:spcPct val="90000"/>
              </a:lnSpc>
              <a:spcBef>
                <a:spcPts val="4800"/>
              </a:spcBef>
              <a:spcAft>
                <a:spcPts val="0"/>
              </a:spcAft>
              <a:buClrTx/>
              <a:buSzTx/>
              <a:buFont typeface="Arial" panose="020B0604020202020204" pitchFamily="34" charset="0"/>
              <a:buNone/>
              <a:tabLst/>
              <a:defRPr/>
            </a:pPr>
            <a:r>
              <a:rPr lang="en-US" dirty="0"/>
              <a:t>Department of {Insert Name Here}, College {Insert Name Here}, Texas State University</a:t>
            </a:r>
          </a:p>
        </p:txBody>
      </p:sp>
      <p:sp>
        <p:nvSpPr>
          <p:cNvPr id="28" name="Text Placeholder 27">
            <a:extLst>
              <a:ext uri="{FF2B5EF4-FFF2-40B4-BE49-F238E27FC236}">
                <a16:creationId xmlns:a16="http://schemas.microsoft.com/office/drawing/2014/main" id="{046344EA-D2DF-ECEE-98B9-CE46934433F6}"/>
              </a:ext>
            </a:extLst>
          </p:cNvPr>
          <p:cNvSpPr>
            <a:spLocks noGrp="1"/>
          </p:cNvSpPr>
          <p:nvPr>
            <p:ph type="body" sz="quarter" idx="25" hasCustomPrompt="1"/>
          </p:nvPr>
        </p:nvSpPr>
        <p:spPr>
          <a:xfrm>
            <a:off x="914399" y="2537430"/>
            <a:ext cx="42062399" cy="928716"/>
          </a:xfrm>
          <a:prstGeom prst="rect">
            <a:avLst/>
          </a:prstGeom>
        </p:spPr>
        <p:txBody>
          <a:bodyPr>
            <a:spAutoFit/>
          </a:bodyPr>
          <a:lstStyle>
            <a:lvl1pPr marL="0" marR="0" indent="0" algn="l" defTabSz="4389120" rtl="0" eaLnBrk="1" fontAlgn="auto" latinLnBrk="0" hangingPunct="1">
              <a:lnSpc>
                <a:spcPct val="90000"/>
              </a:lnSpc>
              <a:spcBef>
                <a:spcPts val="4800"/>
              </a:spcBef>
              <a:spcAft>
                <a:spcPts val="0"/>
              </a:spcAft>
              <a:buClrTx/>
              <a:buSzTx/>
              <a:buFont typeface="Arial" panose="020B0604020202020204" pitchFamily="34" charset="0"/>
              <a:buNone/>
              <a:tabLst/>
              <a:defRPr sz="6000">
                <a:solidFill>
                  <a:schemeClr val="bg1"/>
                </a:solidFill>
              </a:defRPr>
            </a:lvl1pPr>
          </a:lstStyle>
          <a:p>
            <a:pPr marL="0" marR="0" lvl="0" indent="0" algn="l" defTabSz="4389120" rtl="0" eaLnBrk="1" fontAlgn="auto" latinLnBrk="0" hangingPunct="1">
              <a:lnSpc>
                <a:spcPct val="90000"/>
              </a:lnSpc>
              <a:spcBef>
                <a:spcPts val="4800"/>
              </a:spcBef>
              <a:spcAft>
                <a:spcPts val="0"/>
              </a:spcAft>
              <a:buClrTx/>
              <a:buSzTx/>
              <a:buFont typeface="Arial" panose="020B0604020202020204" pitchFamily="34" charset="0"/>
              <a:buNone/>
              <a:tabLst/>
              <a:defRPr/>
            </a:pPr>
            <a:r>
              <a:rPr lang="en-US" dirty="0"/>
              <a:t>Presenter Name, Associates and Collaborators</a:t>
            </a:r>
          </a:p>
        </p:txBody>
      </p:sp>
      <p:sp>
        <p:nvSpPr>
          <p:cNvPr id="33" name="Title 32">
            <a:extLst>
              <a:ext uri="{FF2B5EF4-FFF2-40B4-BE49-F238E27FC236}">
                <a16:creationId xmlns:a16="http://schemas.microsoft.com/office/drawing/2014/main" id="{CB283C4F-E4CE-24D4-D880-EAB5170C0C8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45144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ster B">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D5F6D023-ED97-6394-3659-BBA26602E25C}"/>
              </a:ext>
              <a:ext uri="{C183D7F6-B498-43B3-948B-1728B52AA6E4}">
                <adec:decorative xmlns:adec="http://schemas.microsoft.com/office/drawing/2017/decorative" val="1"/>
              </a:ext>
            </a:extLst>
          </p:cNvPr>
          <p:cNvSpPr/>
          <p:nvPr userDrawn="1"/>
        </p:nvSpPr>
        <p:spPr>
          <a:xfrm>
            <a:off x="0" y="0"/>
            <a:ext cx="438912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01054662-E870-ED5A-5CA6-EDBBC2196332}"/>
              </a:ext>
              <a:ext uri="{C183D7F6-B498-43B3-948B-1728B52AA6E4}">
                <adec:decorative xmlns:adec="http://schemas.microsoft.com/office/drawing/2017/decorative" val="1"/>
              </a:ext>
            </a:extLst>
          </p:cNvPr>
          <p:cNvPicPr>
            <a:picLocks/>
          </p:cNvPicPr>
          <p:nvPr userDrawn="1"/>
        </p:nvPicPr>
        <p:blipFill>
          <a:blip r:embed="rId2"/>
          <a:stretch>
            <a:fillRect/>
          </a:stretch>
        </p:blipFill>
        <p:spPr>
          <a:xfrm>
            <a:off x="-457202" y="4968755"/>
            <a:ext cx="44805600" cy="365760"/>
          </a:xfrm>
          <a:prstGeom prst="rect">
            <a:avLst/>
          </a:prstGeom>
        </p:spPr>
      </p:pic>
      <p:sp>
        <p:nvSpPr>
          <p:cNvPr id="40" name="Text Placeholder 34">
            <a:extLst>
              <a:ext uri="{FF2B5EF4-FFF2-40B4-BE49-F238E27FC236}">
                <a16:creationId xmlns:a16="http://schemas.microsoft.com/office/drawing/2014/main" id="{348F3670-9616-6933-0D8C-D8F06235D894}"/>
              </a:ext>
            </a:extLst>
          </p:cNvPr>
          <p:cNvSpPr>
            <a:spLocks noGrp="1"/>
          </p:cNvSpPr>
          <p:nvPr>
            <p:ph type="body" sz="quarter" idx="32" hasCustomPrompt="1"/>
          </p:nvPr>
        </p:nvSpPr>
        <p:spPr>
          <a:xfrm>
            <a:off x="22417089" y="30175200"/>
            <a:ext cx="10058400" cy="1812244"/>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18" name="Content Placeholder 5">
            <a:extLst>
              <a:ext uri="{FF2B5EF4-FFF2-40B4-BE49-F238E27FC236}">
                <a16:creationId xmlns:a16="http://schemas.microsoft.com/office/drawing/2014/main" id="{5D040BE2-2A67-FBE0-A98F-B0D85AA19084}"/>
              </a:ext>
            </a:extLst>
          </p:cNvPr>
          <p:cNvSpPr>
            <a:spLocks noGrp="1"/>
          </p:cNvSpPr>
          <p:nvPr>
            <p:ph sz="quarter" idx="21" hasCustomPrompt="1"/>
          </p:nvPr>
        </p:nvSpPr>
        <p:spPr>
          <a:xfrm>
            <a:off x="22424573" y="25745169"/>
            <a:ext cx="100584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39" name="Text Placeholder 34">
            <a:extLst>
              <a:ext uri="{FF2B5EF4-FFF2-40B4-BE49-F238E27FC236}">
                <a16:creationId xmlns:a16="http://schemas.microsoft.com/office/drawing/2014/main" id="{A813508E-B9EB-6C09-E96C-12AA995DFC69}"/>
              </a:ext>
            </a:extLst>
          </p:cNvPr>
          <p:cNvSpPr>
            <a:spLocks noGrp="1"/>
          </p:cNvSpPr>
          <p:nvPr>
            <p:ph type="body" sz="quarter" idx="31" hasCustomPrompt="1"/>
          </p:nvPr>
        </p:nvSpPr>
        <p:spPr>
          <a:xfrm>
            <a:off x="29220661" y="21247101"/>
            <a:ext cx="3254828" cy="4114800"/>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16" name="Content Placeholder 5">
            <a:extLst>
              <a:ext uri="{FF2B5EF4-FFF2-40B4-BE49-F238E27FC236}">
                <a16:creationId xmlns:a16="http://schemas.microsoft.com/office/drawing/2014/main" id="{6CB25B35-8C3A-F255-4247-63CCF2DCEAA4}"/>
              </a:ext>
            </a:extLst>
          </p:cNvPr>
          <p:cNvSpPr>
            <a:spLocks noGrp="1"/>
          </p:cNvSpPr>
          <p:nvPr>
            <p:ph sz="quarter" idx="19" hasCustomPrompt="1"/>
          </p:nvPr>
        </p:nvSpPr>
        <p:spPr>
          <a:xfrm>
            <a:off x="22432057" y="21298582"/>
            <a:ext cx="64008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38" name="Text Placeholder 34">
            <a:extLst>
              <a:ext uri="{FF2B5EF4-FFF2-40B4-BE49-F238E27FC236}">
                <a16:creationId xmlns:a16="http://schemas.microsoft.com/office/drawing/2014/main" id="{CEB33FC1-5473-7A12-3E8D-C58CC21D28EF}"/>
              </a:ext>
            </a:extLst>
          </p:cNvPr>
          <p:cNvSpPr>
            <a:spLocks noGrp="1"/>
          </p:cNvSpPr>
          <p:nvPr>
            <p:ph type="body" sz="quarter" idx="30" hasCustomPrompt="1"/>
          </p:nvPr>
        </p:nvSpPr>
        <p:spPr>
          <a:xfrm>
            <a:off x="29228598" y="16800514"/>
            <a:ext cx="3254828" cy="4114800"/>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20" name="Content Placeholder 5">
            <a:extLst>
              <a:ext uri="{FF2B5EF4-FFF2-40B4-BE49-F238E27FC236}">
                <a16:creationId xmlns:a16="http://schemas.microsoft.com/office/drawing/2014/main" id="{6011BDB6-C438-5329-5DAC-2A45C1F447E4}"/>
              </a:ext>
            </a:extLst>
          </p:cNvPr>
          <p:cNvSpPr>
            <a:spLocks noGrp="1"/>
          </p:cNvSpPr>
          <p:nvPr>
            <p:ph sz="quarter" idx="23" hasCustomPrompt="1"/>
          </p:nvPr>
        </p:nvSpPr>
        <p:spPr>
          <a:xfrm>
            <a:off x="22432057" y="16817070"/>
            <a:ext cx="64008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37" name="Text Placeholder 34">
            <a:extLst>
              <a:ext uri="{FF2B5EF4-FFF2-40B4-BE49-F238E27FC236}">
                <a16:creationId xmlns:a16="http://schemas.microsoft.com/office/drawing/2014/main" id="{CEF88326-8D26-5EC1-BD8A-E1116CB170BB}"/>
              </a:ext>
            </a:extLst>
          </p:cNvPr>
          <p:cNvSpPr>
            <a:spLocks noGrp="1"/>
          </p:cNvSpPr>
          <p:nvPr>
            <p:ph type="body" sz="quarter" idx="29" hasCustomPrompt="1"/>
          </p:nvPr>
        </p:nvSpPr>
        <p:spPr>
          <a:xfrm>
            <a:off x="11415712" y="30191756"/>
            <a:ext cx="10058400" cy="1812244"/>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12" name="Content Placeholder 5">
            <a:extLst>
              <a:ext uri="{FF2B5EF4-FFF2-40B4-BE49-F238E27FC236}">
                <a16:creationId xmlns:a16="http://schemas.microsoft.com/office/drawing/2014/main" id="{129E9E52-3736-62F8-E282-CD10E8BFE7DC}"/>
              </a:ext>
            </a:extLst>
          </p:cNvPr>
          <p:cNvSpPr>
            <a:spLocks noGrp="1"/>
          </p:cNvSpPr>
          <p:nvPr>
            <p:ph sz="quarter" idx="15" hasCustomPrompt="1"/>
          </p:nvPr>
        </p:nvSpPr>
        <p:spPr>
          <a:xfrm>
            <a:off x="11408229" y="25728613"/>
            <a:ext cx="100584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6" name="Content Placeholder 5">
            <a:extLst>
              <a:ext uri="{FF2B5EF4-FFF2-40B4-BE49-F238E27FC236}">
                <a16:creationId xmlns:a16="http://schemas.microsoft.com/office/drawing/2014/main" id="{6E35A505-F2F6-EC1B-F2D5-1E9A1D8140EA}"/>
              </a:ext>
            </a:extLst>
          </p:cNvPr>
          <p:cNvSpPr>
            <a:spLocks noGrp="1"/>
          </p:cNvSpPr>
          <p:nvPr>
            <p:ph sz="quarter" idx="13" hasCustomPrompt="1"/>
          </p:nvPr>
        </p:nvSpPr>
        <p:spPr>
          <a:xfrm>
            <a:off x="15011854" y="21282026"/>
            <a:ext cx="64008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36" name="Text Placeholder 34">
            <a:extLst>
              <a:ext uri="{FF2B5EF4-FFF2-40B4-BE49-F238E27FC236}">
                <a16:creationId xmlns:a16="http://schemas.microsoft.com/office/drawing/2014/main" id="{025CF888-D949-CCC5-72E0-76825D0B59DD}"/>
              </a:ext>
            </a:extLst>
          </p:cNvPr>
          <p:cNvSpPr>
            <a:spLocks noGrp="1"/>
          </p:cNvSpPr>
          <p:nvPr>
            <p:ph type="body" sz="quarter" idx="28" hasCustomPrompt="1"/>
          </p:nvPr>
        </p:nvSpPr>
        <p:spPr>
          <a:xfrm>
            <a:off x="11415713" y="21298582"/>
            <a:ext cx="3254828" cy="4114800"/>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35" name="Text Placeholder 34">
            <a:extLst>
              <a:ext uri="{FF2B5EF4-FFF2-40B4-BE49-F238E27FC236}">
                <a16:creationId xmlns:a16="http://schemas.microsoft.com/office/drawing/2014/main" id="{2BE82858-A3ED-0689-7990-78BBAD5A2431}"/>
              </a:ext>
            </a:extLst>
          </p:cNvPr>
          <p:cNvSpPr>
            <a:spLocks noGrp="1"/>
          </p:cNvSpPr>
          <p:nvPr>
            <p:ph type="body" sz="quarter" idx="27" hasCustomPrompt="1"/>
          </p:nvPr>
        </p:nvSpPr>
        <p:spPr>
          <a:xfrm>
            <a:off x="18204316" y="16800514"/>
            <a:ext cx="3254828" cy="4114800"/>
          </a:xfrm>
          <a:prstGeom prst="rect">
            <a:avLst/>
          </a:prstGeom>
          <a:solidFill>
            <a:schemeClr val="bg1"/>
          </a:solidFill>
        </p:spPr>
        <p:txBody>
          <a:bodyPr anchor="ctr"/>
          <a:lstStyle>
            <a:lvl1pPr marL="0" indent="0">
              <a:spcBef>
                <a:spcPts val="1800"/>
              </a:spcBef>
              <a:buNone/>
              <a:defRPr sz="2100" i="1"/>
            </a:lvl1pPr>
          </a:lstStyle>
          <a:p>
            <a:pPr lvl="0"/>
            <a:r>
              <a:rPr lang="en-US" dirty="0"/>
              <a:t>This is the suggested format for captions.</a:t>
            </a:r>
          </a:p>
          <a:p>
            <a:pPr lvl="0"/>
            <a:r>
              <a:rPr lang="en-US" dirty="0"/>
              <a:t>Duis autem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a:t>
            </a:r>
          </a:p>
        </p:txBody>
      </p:sp>
      <p:sp>
        <p:nvSpPr>
          <p:cNvPr id="14" name="Content Placeholder 5">
            <a:extLst>
              <a:ext uri="{FF2B5EF4-FFF2-40B4-BE49-F238E27FC236}">
                <a16:creationId xmlns:a16="http://schemas.microsoft.com/office/drawing/2014/main" id="{A36445EC-F62C-42DA-66E0-5DA2F7D8BEE9}"/>
              </a:ext>
            </a:extLst>
          </p:cNvPr>
          <p:cNvSpPr>
            <a:spLocks noGrp="1"/>
          </p:cNvSpPr>
          <p:nvPr>
            <p:ph sz="quarter" idx="17" hasCustomPrompt="1"/>
          </p:nvPr>
        </p:nvSpPr>
        <p:spPr>
          <a:xfrm>
            <a:off x="11415713" y="16800514"/>
            <a:ext cx="6400800" cy="4114800"/>
          </a:xfrm>
          <a:prstGeom prst="rect">
            <a:avLst/>
          </a:prstGeom>
        </p:spPr>
        <p:txBody>
          <a:bodyPr anchor="ctr"/>
          <a:lstStyle>
            <a:lvl1pPr marL="0" indent="0" algn="ctr">
              <a:buNone/>
              <a:defRPr sz="4800">
                <a:solidFill>
                  <a:schemeClr val="bg1"/>
                </a:solidFill>
              </a:defRPr>
            </a:lvl1pPr>
          </a:lstStyle>
          <a:p>
            <a:pPr lvl="0"/>
            <a:r>
              <a:rPr lang="en-US" dirty="0"/>
              <a:t>Click to add content</a:t>
            </a:r>
          </a:p>
        </p:txBody>
      </p:sp>
      <p:sp>
        <p:nvSpPr>
          <p:cNvPr id="30" name="Text Placeholder 29">
            <a:extLst>
              <a:ext uri="{FF2B5EF4-FFF2-40B4-BE49-F238E27FC236}">
                <a16:creationId xmlns:a16="http://schemas.microsoft.com/office/drawing/2014/main" id="{D77ADE4D-4ABA-E655-59C1-E92411C4EE8C}"/>
              </a:ext>
            </a:extLst>
          </p:cNvPr>
          <p:cNvSpPr>
            <a:spLocks noGrp="1"/>
          </p:cNvSpPr>
          <p:nvPr>
            <p:ph type="body" sz="quarter" idx="26" hasCustomPrompt="1"/>
          </p:nvPr>
        </p:nvSpPr>
        <p:spPr>
          <a:xfrm>
            <a:off x="914399" y="3546473"/>
            <a:ext cx="42062399" cy="649922"/>
          </a:xfrm>
          <a:prstGeom prst="rect">
            <a:avLst/>
          </a:prstGeom>
        </p:spPr>
        <p:txBody>
          <a:bodyPr>
            <a:spAutoFit/>
          </a:bodyPr>
          <a:lstStyle>
            <a:lvl1pPr marL="0" marR="0" indent="0" algn="l" defTabSz="4389120" rtl="0" eaLnBrk="1" fontAlgn="auto" latinLnBrk="0" hangingPunct="1">
              <a:lnSpc>
                <a:spcPct val="90000"/>
              </a:lnSpc>
              <a:spcBef>
                <a:spcPts val="4800"/>
              </a:spcBef>
              <a:spcAft>
                <a:spcPts val="0"/>
              </a:spcAft>
              <a:buClrTx/>
              <a:buSzTx/>
              <a:buFont typeface="Arial" panose="020B0604020202020204" pitchFamily="34" charset="0"/>
              <a:buNone/>
              <a:tabLst/>
              <a:defRPr sz="4000">
                <a:solidFill>
                  <a:schemeClr val="tx1"/>
                </a:solidFill>
              </a:defRPr>
            </a:lvl1pPr>
          </a:lstStyle>
          <a:p>
            <a:pPr marL="0" marR="0" lvl="0" indent="0" algn="l" defTabSz="4389120" rtl="0" eaLnBrk="1" fontAlgn="auto" latinLnBrk="0" hangingPunct="1">
              <a:lnSpc>
                <a:spcPct val="90000"/>
              </a:lnSpc>
              <a:spcBef>
                <a:spcPts val="4800"/>
              </a:spcBef>
              <a:spcAft>
                <a:spcPts val="0"/>
              </a:spcAft>
              <a:buClrTx/>
              <a:buSzTx/>
              <a:buFont typeface="Arial" panose="020B0604020202020204" pitchFamily="34" charset="0"/>
              <a:buNone/>
              <a:tabLst/>
              <a:defRPr/>
            </a:pPr>
            <a:r>
              <a:rPr lang="en-US" dirty="0"/>
              <a:t>Department of {Insert Name Here}, College {Insert Name Here}, Texas State University</a:t>
            </a:r>
          </a:p>
        </p:txBody>
      </p:sp>
      <p:sp>
        <p:nvSpPr>
          <p:cNvPr id="28" name="Text Placeholder 27">
            <a:extLst>
              <a:ext uri="{FF2B5EF4-FFF2-40B4-BE49-F238E27FC236}">
                <a16:creationId xmlns:a16="http://schemas.microsoft.com/office/drawing/2014/main" id="{046344EA-D2DF-ECEE-98B9-CE46934433F6}"/>
              </a:ext>
            </a:extLst>
          </p:cNvPr>
          <p:cNvSpPr>
            <a:spLocks noGrp="1"/>
          </p:cNvSpPr>
          <p:nvPr>
            <p:ph type="body" sz="quarter" idx="25" hasCustomPrompt="1"/>
          </p:nvPr>
        </p:nvSpPr>
        <p:spPr>
          <a:xfrm>
            <a:off x="914399" y="2537430"/>
            <a:ext cx="42062399" cy="928716"/>
          </a:xfrm>
          <a:prstGeom prst="rect">
            <a:avLst/>
          </a:prstGeom>
        </p:spPr>
        <p:txBody>
          <a:bodyPr>
            <a:spAutoFit/>
          </a:bodyPr>
          <a:lstStyle>
            <a:lvl1pPr marL="0" marR="0" indent="0" algn="l" defTabSz="4389120" rtl="0" eaLnBrk="1" fontAlgn="auto" latinLnBrk="0" hangingPunct="1">
              <a:lnSpc>
                <a:spcPct val="90000"/>
              </a:lnSpc>
              <a:spcBef>
                <a:spcPts val="4800"/>
              </a:spcBef>
              <a:spcAft>
                <a:spcPts val="0"/>
              </a:spcAft>
              <a:buClrTx/>
              <a:buSzTx/>
              <a:buFont typeface="Arial" panose="020B0604020202020204" pitchFamily="34" charset="0"/>
              <a:buNone/>
              <a:tabLst/>
              <a:defRPr sz="6000">
                <a:solidFill>
                  <a:schemeClr val="tx1"/>
                </a:solidFill>
              </a:defRPr>
            </a:lvl1pPr>
          </a:lstStyle>
          <a:p>
            <a:pPr marL="0" marR="0" lvl="0" indent="0" algn="l" defTabSz="4389120" rtl="0" eaLnBrk="1" fontAlgn="auto" latinLnBrk="0" hangingPunct="1">
              <a:lnSpc>
                <a:spcPct val="90000"/>
              </a:lnSpc>
              <a:spcBef>
                <a:spcPts val="4800"/>
              </a:spcBef>
              <a:spcAft>
                <a:spcPts val="0"/>
              </a:spcAft>
              <a:buClrTx/>
              <a:buSzTx/>
              <a:buFont typeface="Arial" panose="020B0604020202020204" pitchFamily="34" charset="0"/>
              <a:buNone/>
              <a:tabLst/>
              <a:defRPr/>
            </a:pPr>
            <a:r>
              <a:rPr lang="en-US" dirty="0"/>
              <a:t>Presenter Name, Associates and Collaborators</a:t>
            </a:r>
          </a:p>
        </p:txBody>
      </p:sp>
      <p:sp>
        <p:nvSpPr>
          <p:cNvPr id="33" name="Title 32">
            <a:extLst>
              <a:ext uri="{FF2B5EF4-FFF2-40B4-BE49-F238E27FC236}">
                <a16:creationId xmlns:a16="http://schemas.microsoft.com/office/drawing/2014/main" id="{CB283C4F-E4CE-24D4-D880-EAB5170C0C87}"/>
              </a:ext>
            </a:extLst>
          </p:cNvPr>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Tree>
    <p:extLst>
      <p:ext uri="{BB962C8B-B14F-4D97-AF65-F5344CB8AC3E}">
        <p14:creationId xmlns:p14="http://schemas.microsoft.com/office/powerpoint/2010/main" val="26256600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94671D48-852B-8BE9-3263-5100FF9B56A2}"/>
              </a:ext>
              <a:ext uri="{C183D7F6-B498-43B3-948B-1728B52AA6E4}">
                <adec:decorative xmlns:adec="http://schemas.microsoft.com/office/drawing/2017/decorative" val="1"/>
              </a:ext>
            </a:extLst>
          </p:cNvPr>
          <p:cNvCxnSpPr>
            <a:cxnSpLocks/>
          </p:cNvCxnSpPr>
          <p:nvPr userDrawn="1"/>
        </p:nvCxnSpPr>
        <p:spPr>
          <a:xfrm>
            <a:off x="0" y="5009321"/>
            <a:ext cx="43891200"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icture 12" descr="Texas State University.">
            <a:extLst>
              <a:ext uri="{FF2B5EF4-FFF2-40B4-BE49-F238E27FC236}">
                <a16:creationId xmlns:a16="http://schemas.microsoft.com/office/drawing/2014/main" id="{F4E8DC6A-0E94-E6C7-914A-412F9368862C}"/>
              </a:ext>
              <a:ext uri="{C183D7F6-B498-43B3-948B-1728B52AA6E4}">
                <adec:decorative xmlns:adec="http://schemas.microsoft.com/office/drawing/2017/decorative" val="0"/>
              </a:ext>
            </a:extLst>
          </p:cNvPr>
          <p:cNvPicPr>
            <a:picLocks noChangeAspect="1"/>
          </p:cNvPicPr>
          <p:nvPr userDrawn="1"/>
        </p:nvPicPr>
        <p:blipFill>
          <a:blip r:embed="rId4"/>
          <a:srcRect/>
          <a:stretch/>
        </p:blipFill>
        <p:spPr>
          <a:xfrm>
            <a:off x="33383331" y="28823447"/>
            <a:ext cx="9144000" cy="2053732"/>
          </a:xfrm>
          <a:prstGeom prst="rect">
            <a:avLst/>
          </a:prstGeom>
        </p:spPr>
      </p:pic>
      <p:pic>
        <p:nvPicPr>
          <p:cNvPr id="15" name="Picture 14" descr="Member of the Texas State University System.&#10;">
            <a:extLst>
              <a:ext uri="{FF2B5EF4-FFF2-40B4-BE49-F238E27FC236}">
                <a16:creationId xmlns:a16="http://schemas.microsoft.com/office/drawing/2014/main" id="{80FBDA11-CAA9-F2EE-7E98-6FCA1A1610C9}"/>
              </a:ext>
              <a:ext uri="{C183D7F6-B498-43B3-948B-1728B52AA6E4}">
                <adec:decorative xmlns:adec="http://schemas.microsoft.com/office/drawing/2017/decorative" val="0"/>
              </a:ext>
            </a:extLst>
          </p:cNvPr>
          <p:cNvPicPr>
            <a:picLocks noChangeAspect="1"/>
          </p:cNvPicPr>
          <p:nvPr userDrawn="1"/>
        </p:nvPicPr>
        <p:blipFill>
          <a:blip r:embed="rId5"/>
          <a:stretch>
            <a:fillRect/>
          </a:stretch>
        </p:blipFill>
        <p:spPr>
          <a:xfrm>
            <a:off x="33383331" y="31367267"/>
            <a:ext cx="9593468" cy="636734"/>
          </a:xfrm>
          <a:prstGeom prst="rect">
            <a:avLst/>
          </a:prstGeom>
        </p:spPr>
      </p:pic>
      <p:sp>
        <p:nvSpPr>
          <p:cNvPr id="6" name="Title Placeholder 5">
            <a:extLst>
              <a:ext uri="{FF2B5EF4-FFF2-40B4-BE49-F238E27FC236}">
                <a16:creationId xmlns:a16="http://schemas.microsoft.com/office/drawing/2014/main" id="{4D011F31-6892-A6DA-1FEC-4D0C20C0100B}"/>
              </a:ext>
            </a:extLst>
          </p:cNvPr>
          <p:cNvSpPr>
            <a:spLocks noGrp="1"/>
          </p:cNvSpPr>
          <p:nvPr>
            <p:ph type="title"/>
          </p:nvPr>
        </p:nvSpPr>
        <p:spPr>
          <a:xfrm>
            <a:off x="914400" y="914400"/>
            <a:ext cx="42062399" cy="1741712"/>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2004753529"/>
      </p:ext>
    </p:extLst>
  </p:cSld>
  <p:clrMap bg1="lt1" tx1="dk1" bg2="lt2" tx2="dk2" accent1="accent1" accent2="accent2" accent3="accent3" accent4="accent4" accent5="accent5" accent6="accent6" hlink="hlink" folHlink="folHlink"/>
  <p:sldLayoutIdLst>
    <p:sldLayoutId id="2147483664" r:id="rId1"/>
    <p:sldLayoutId id="2147483661" r:id="rId2"/>
  </p:sldLayoutIdLst>
  <p:txStyles>
    <p:titleStyle>
      <a:lvl1pPr algn="l" defTabSz="4389120" rtl="0" eaLnBrk="1" latinLnBrk="0" hangingPunct="1">
        <a:lnSpc>
          <a:spcPct val="90000"/>
        </a:lnSpc>
        <a:spcBef>
          <a:spcPct val="0"/>
        </a:spcBef>
        <a:buNone/>
        <a:defRPr sz="10400" kern="1200">
          <a:solidFill>
            <a:schemeClr val="accent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160" userDrawn="1">
          <p15:clr>
            <a:srgbClr val="F26B43"/>
          </p15:clr>
        </p15:guide>
        <p15:guide id="2" pos="6912" userDrawn="1">
          <p15:clr>
            <a:srgbClr val="F26B43"/>
          </p15:clr>
        </p15:guide>
        <p15:guide id="3" pos="13824" userDrawn="1">
          <p15:clr>
            <a:srgbClr val="F26B43"/>
          </p15:clr>
        </p15:guide>
        <p15:guide id="4" pos="20736" userDrawn="1">
          <p15:clr>
            <a:srgbClr val="F26B43"/>
          </p15:clr>
        </p15:guide>
        <p15:guide id="5" orient="horz" pos="3456" userDrawn="1">
          <p15:clr>
            <a:srgbClr val="F26B43"/>
          </p15:clr>
        </p15:guide>
        <p15:guide id="6" orient="horz" pos="576" userDrawn="1">
          <p15:clr>
            <a:srgbClr val="F26B43"/>
          </p15:clr>
        </p15:guide>
        <p15:guide id="7" pos="576" userDrawn="1">
          <p15:clr>
            <a:srgbClr val="F26B43"/>
          </p15:clr>
        </p15:guide>
        <p15:guide id="8" pos="2707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051FA42-6CCC-C2CD-9CFC-04EDAC439E4A}"/>
              </a:ext>
            </a:extLst>
          </p:cNvPr>
          <p:cNvSpPr/>
          <p:nvPr/>
        </p:nvSpPr>
        <p:spPr>
          <a:xfrm>
            <a:off x="11950667" y="16212343"/>
            <a:ext cx="9795092" cy="10319691"/>
          </a:xfrm>
          <a:prstGeom prst="rect">
            <a:avLst/>
          </a:prstGeom>
          <a:solidFill>
            <a:schemeClr val="tx1">
              <a:lumMod val="20000"/>
              <a:lumOff val="80000"/>
            </a:schemeClr>
          </a:solidFill>
          <a:ln>
            <a:solidFill>
              <a:srgbClr val="A18A5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000" b="1" dirty="0">
                <a:solidFill>
                  <a:schemeClr val="tx1">
                    <a:lumMod val="50000"/>
                  </a:schemeClr>
                </a:solidFill>
                <a:highlight>
                  <a:srgbClr val="FFFF00"/>
                </a:highlight>
              </a:rPr>
              <a:t>Seven counties with over 1,000 seniors have zero providers.</a:t>
            </a:r>
          </a:p>
        </p:txBody>
      </p:sp>
      <p:sp>
        <p:nvSpPr>
          <p:cNvPr id="23" name="Rectangle 22">
            <a:extLst>
              <a:ext uri="{FF2B5EF4-FFF2-40B4-BE49-F238E27FC236}">
                <a16:creationId xmlns:a16="http://schemas.microsoft.com/office/drawing/2014/main" id="{FEC02684-EBA4-CCCB-2763-9638A6FB198E}"/>
              </a:ext>
            </a:extLst>
          </p:cNvPr>
          <p:cNvSpPr/>
          <p:nvPr/>
        </p:nvSpPr>
        <p:spPr>
          <a:xfrm>
            <a:off x="11950666" y="5830135"/>
            <a:ext cx="20337340" cy="9040394"/>
          </a:xfrm>
          <a:prstGeom prst="rect">
            <a:avLst/>
          </a:prstGeom>
          <a:solidFill>
            <a:srgbClr val="A18A5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6" name="Content Placeholder 35">
            <a:extLst>
              <a:ext uri="{FF2B5EF4-FFF2-40B4-BE49-F238E27FC236}">
                <a16:creationId xmlns:a16="http://schemas.microsoft.com/office/drawing/2014/main" id="{33236B2B-AD68-070D-C16F-960A0778D3D7}"/>
              </a:ext>
            </a:extLst>
          </p:cNvPr>
          <p:cNvGraphicFramePr>
            <a:graphicFrameLocks noGrp="1"/>
          </p:cNvGraphicFramePr>
          <p:nvPr>
            <p:ph sz="quarter" idx="19"/>
            <p:extLst>
              <p:ext uri="{D42A27DB-BD31-4B8C-83A1-F6EECF244321}">
                <p14:modId xmlns:p14="http://schemas.microsoft.com/office/powerpoint/2010/main" val="3097513704"/>
              </p:ext>
            </p:extLst>
          </p:nvPr>
        </p:nvGraphicFramePr>
        <p:xfrm>
          <a:off x="22335310" y="17657830"/>
          <a:ext cx="9952696" cy="7225092"/>
        </p:xfrm>
        <a:graphic>
          <a:graphicData uri="http://schemas.openxmlformats.org/drawingml/2006/table">
            <a:tbl>
              <a:tblPr/>
              <a:tblGrid>
                <a:gridCol w="2488174">
                  <a:extLst>
                    <a:ext uri="{9D8B030D-6E8A-4147-A177-3AD203B41FA5}">
                      <a16:colId xmlns:a16="http://schemas.microsoft.com/office/drawing/2014/main" val="484745211"/>
                    </a:ext>
                  </a:extLst>
                </a:gridCol>
                <a:gridCol w="2488174">
                  <a:extLst>
                    <a:ext uri="{9D8B030D-6E8A-4147-A177-3AD203B41FA5}">
                      <a16:colId xmlns:a16="http://schemas.microsoft.com/office/drawing/2014/main" val="1520836366"/>
                    </a:ext>
                  </a:extLst>
                </a:gridCol>
                <a:gridCol w="2488174">
                  <a:extLst>
                    <a:ext uri="{9D8B030D-6E8A-4147-A177-3AD203B41FA5}">
                      <a16:colId xmlns:a16="http://schemas.microsoft.com/office/drawing/2014/main" val="4291756914"/>
                    </a:ext>
                  </a:extLst>
                </a:gridCol>
                <a:gridCol w="2488174">
                  <a:extLst>
                    <a:ext uri="{9D8B030D-6E8A-4147-A177-3AD203B41FA5}">
                      <a16:colId xmlns:a16="http://schemas.microsoft.com/office/drawing/2014/main" val="3666158364"/>
                    </a:ext>
                  </a:extLst>
                </a:gridCol>
              </a:tblGrid>
              <a:tr h="948358">
                <a:tc>
                  <a:txBody>
                    <a:bodyPr/>
                    <a:lstStyle/>
                    <a:p>
                      <a:pPr algn="ctr">
                        <a:buNone/>
                      </a:pPr>
                      <a:r>
                        <a:rPr lang="en-US" sz="3600" dirty="0"/>
                        <a:t>County Name</a:t>
                      </a:r>
                    </a:p>
                  </a:txBody>
                  <a:tcPr marL="15461" marR="15461" marT="7731" marB="7731" anchor="ctr">
                    <a:lnL>
                      <a:noFill/>
                    </a:lnL>
                    <a:lnR>
                      <a:noFill/>
                    </a:lnR>
                    <a:lnT>
                      <a:noFill/>
                    </a:lnT>
                    <a:lnB>
                      <a:noFill/>
                    </a:lnB>
                    <a:solidFill>
                      <a:schemeClr val="bg2">
                        <a:lumMod val="50000"/>
                      </a:schemeClr>
                    </a:solidFill>
                  </a:tcPr>
                </a:tc>
                <a:tc>
                  <a:txBody>
                    <a:bodyPr/>
                    <a:lstStyle/>
                    <a:p>
                      <a:pPr algn="ctr">
                        <a:buNone/>
                      </a:pPr>
                      <a:r>
                        <a:rPr lang="en-US" sz="3600" dirty="0"/>
                        <a:t>Population Age 65+</a:t>
                      </a:r>
                    </a:p>
                  </a:txBody>
                  <a:tcPr marL="15461" marR="15461" marT="7731" marB="7731" anchor="ctr">
                    <a:lnL>
                      <a:noFill/>
                    </a:lnL>
                    <a:lnR>
                      <a:noFill/>
                    </a:lnR>
                    <a:lnT>
                      <a:noFill/>
                    </a:lnT>
                    <a:lnB>
                      <a:noFill/>
                    </a:lnB>
                    <a:solidFill>
                      <a:schemeClr val="bg2">
                        <a:lumMod val="50000"/>
                      </a:schemeClr>
                    </a:solidFill>
                  </a:tcPr>
                </a:tc>
                <a:tc>
                  <a:txBody>
                    <a:bodyPr/>
                    <a:lstStyle/>
                    <a:p>
                      <a:pPr algn="ctr">
                        <a:buNone/>
                      </a:pPr>
                      <a:r>
                        <a:rPr lang="en-US" sz="3600" dirty="0"/>
                        <a:t>Providers per 10,000 (65+)</a:t>
                      </a:r>
                    </a:p>
                  </a:txBody>
                  <a:tcPr marL="15461" marR="15461" marT="7731" marB="7731" anchor="ctr">
                    <a:lnL>
                      <a:noFill/>
                    </a:lnL>
                    <a:lnR>
                      <a:noFill/>
                    </a:lnR>
                    <a:lnT>
                      <a:noFill/>
                    </a:lnT>
                    <a:lnB>
                      <a:noFill/>
                    </a:lnB>
                    <a:solidFill>
                      <a:schemeClr val="bg2">
                        <a:lumMod val="50000"/>
                      </a:schemeClr>
                    </a:solidFill>
                  </a:tcPr>
                </a:tc>
                <a:tc>
                  <a:txBody>
                    <a:bodyPr/>
                    <a:lstStyle/>
                    <a:p>
                      <a:pPr algn="ctr">
                        <a:buNone/>
                      </a:pPr>
                      <a:r>
                        <a:rPr lang="en-US" sz="3600" dirty="0"/>
                        <a:t>Quartile</a:t>
                      </a:r>
                    </a:p>
                  </a:txBody>
                  <a:tcPr marL="15461" marR="15461" marT="7731" marB="7731" anchor="ctr">
                    <a:lnL>
                      <a:noFill/>
                    </a:lnL>
                    <a:lnR>
                      <a:noFill/>
                    </a:lnR>
                    <a:lnT>
                      <a:noFill/>
                    </a:lnT>
                    <a:lnB>
                      <a:noFill/>
                    </a:lnB>
                    <a:solidFill>
                      <a:schemeClr val="bg2">
                        <a:lumMod val="50000"/>
                      </a:schemeClr>
                    </a:solidFill>
                  </a:tcPr>
                </a:tc>
                <a:extLst>
                  <a:ext uri="{0D108BD9-81ED-4DB2-BD59-A6C34878D82A}">
                    <a16:rowId xmlns:a16="http://schemas.microsoft.com/office/drawing/2014/main" val="2447165791"/>
                  </a:ext>
                </a:extLst>
              </a:tr>
              <a:tr h="489690">
                <a:tc>
                  <a:txBody>
                    <a:bodyPr/>
                    <a:lstStyle/>
                    <a:p>
                      <a:pPr algn="ctr">
                        <a:buNone/>
                      </a:pPr>
                      <a:r>
                        <a:rPr lang="en-US" sz="3600" dirty="0"/>
                        <a:t>Harris County</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dirty="0"/>
                        <a:t>543,463</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a:t>7.54</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a:t>Q3</a:t>
                      </a:r>
                    </a:p>
                  </a:txBody>
                  <a:tcPr marL="15461" marR="15461" marT="7731" marB="7731" anchor="ctr">
                    <a:lnL>
                      <a:noFill/>
                    </a:lnL>
                    <a:lnR>
                      <a:noFill/>
                    </a:lnR>
                    <a:lnT>
                      <a:noFill/>
                    </a:lnT>
                    <a:lnB>
                      <a:noFill/>
                    </a:lnB>
                    <a:solidFill>
                      <a:schemeClr val="tx1">
                        <a:lumMod val="40000"/>
                        <a:lumOff val="60000"/>
                      </a:schemeClr>
                    </a:solidFill>
                  </a:tcPr>
                </a:tc>
                <a:extLst>
                  <a:ext uri="{0D108BD9-81ED-4DB2-BD59-A6C34878D82A}">
                    <a16:rowId xmlns:a16="http://schemas.microsoft.com/office/drawing/2014/main" val="3600027771"/>
                  </a:ext>
                </a:extLst>
              </a:tr>
              <a:tr h="489690">
                <a:tc>
                  <a:txBody>
                    <a:bodyPr/>
                    <a:lstStyle/>
                    <a:p>
                      <a:pPr algn="ctr">
                        <a:buNone/>
                      </a:pPr>
                      <a:r>
                        <a:rPr lang="en-US" sz="3600" dirty="0"/>
                        <a:t>Dallas County</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a:t>298,992</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dirty="0"/>
                        <a:t>14.88</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a:t>Q4</a:t>
                      </a:r>
                    </a:p>
                  </a:txBody>
                  <a:tcPr marL="15461" marR="15461" marT="7731" marB="7731" anchor="ctr">
                    <a:lnL>
                      <a:noFill/>
                    </a:lnL>
                    <a:lnR>
                      <a:noFill/>
                    </a:lnR>
                    <a:lnT>
                      <a:noFill/>
                    </a:lnT>
                    <a:lnB>
                      <a:noFill/>
                    </a:lnB>
                    <a:solidFill>
                      <a:schemeClr val="tx1">
                        <a:lumMod val="40000"/>
                        <a:lumOff val="60000"/>
                      </a:schemeClr>
                    </a:solidFill>
                  </a:tcPr>
                </a:tc>
                <a:extLst>
                  <a:ext uri="{0D108BD9-81ED-4DB2-BD59-A6C34878D82A}">
                    <a16:rowId xmlns:a16="http://schemas.microsoft.com/office/drawing/2014/main" val="1357485699"/>
                  </a:ext>
                </a:extLst>
              </a:tr>
              <a:tr h="489690">
                <a:tc>
                  <a:txBody>
                    <a:bodyPr/>
                    <a:lstStyle/>
                    <a:p>
                      <a:pPr algn="ctr">
                        <a:buNone/>
                      </a:pPr>
                      <a:r>
                        <a:rPr lang="en-US" sz="3600"/>
                        <a:t>Bexar County</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a:t>257,782</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a:t>5.47</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dirty="0"/>
                        <a:t>Q2</a:t>
                      </a:r>
                    </a:p>
                  </a:txBody>
                  <a:tcPr marL="15461" marR="15461" marT="7731" marB="7731" anchor="ctr">
                    <a:lnL>
                      <a:noFill/>
                    </a:lnL>
                    <a:lnR>
                      <a:noFill/>
                    </a:lnR>
                    <a:lnT>
                      <a:noFill/>
                    </a:lnT>
                    <a:lnB>
                      <a:noFill/>
                    </a:lnB>
                    <a:solidFill>
                      <a:schemeClr val="tx1">
                        <a:lumMod val="40000"/>
                        <a:lumOff val="60000"/>
                      </a:schemeClr>
                    </a:solidFill>
                  </a:tcPr>
                </a:tc>
                <a:extLst>
                  <a:ext uri="{0D108BD9-81ED-4DB2-BD59-A6C34878D82A}">
                    <a16:rowId xmlns:a16="http://schemas.microsoft.com/office/drawing/2014/main" val="1451830749"/>
                  </a:ext>
                </a:extLst>
              </a:tr>
              <a:tr h="489690">
                <a:tc>
                  <a:txBody>
                    <a:bodyPr/>
                    <a:lstStyle/>
                    <a:p>
                      <a:pPr algn="ctr">
                        <a:buNone/>
                      </a:pPr>
                      <a:r>
                        <a:rPr lang="en-US" sz="3600"/>
                        <a:t>Tarrant County</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a:t>256,473</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a:t>6.75</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a:t>Q2</a:t>
                      </a:r>
                    </a:p>
                  </a:txBody>
                  <a:tcPr marL="15461" marR="15461" marT="7731" marB="7731" anchor="ctr">
                    <a:lnL>
                      <a:noFill/>
                    </a:lnL>
                    <a:lnR>
                      <a:noFill/>
                    </a:lnR>
                    <a:lnT>
                      <a:noFill/>
                    </a:lnT>
                    <a:lnB>
                      <a:noFill/>
                    </a:lnB>
                    <a:solidFill>
                      <a:schemeClr val="tx1">
                        <a:lumMod val="40000"/>
                        <a:lumOff val="60000"/>
                      </a:schemeClr>
                    </a:solidFill>
                  </a:tcPr>
                </a:tc>
                <a:extLst>
                  <a:ext uri="{0D108BD9-81ED-4DB2-BD59-A6C34878D82A}">
                    <a16:rowId xmlns:a16="http://schemas.microsoft.com/office/drawing/2014/main" val="1028106999"/>
                  </a:ext>
                </a:extLst>
              </a:tr>
              <a:tr h="489690">
                <a:tc>
                  <a:txBody>
                    <a:bodyPr/>
                    <a:lstStyle/>
                    <a:p>
                      <a:pPr algn="ctr">
                        <a:buNone/>
                      </a:pPr>
                      <a:r>
                        <a:rPr lang="en-US" sz="3600" dirty="0">
                          <a:highlight>
                            <a:srgbClr val="FFFF00"/>
                          </a:highlight>
                        </a:rPr>
                        <a:t>Travis County</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dirty="0">
                          <a:highlight>
                            <a:srgbClr val="FFFF00"/>
                          </a:highlight>
                        </a:rPr>
                        <a:t>139,903</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dirty="0">
                          <a:highlight>
                            <a:srgbClr val="FFFF00"/>
                          </a:highlight>
                        </a:rPr>
                        <a:t>4.00</a:t>
                      </a:r>
                    </a:p>
                  </a:txBody>
                  <a:tcPr marL="15461" marR="15461" marT="7731" marB="7731" anchor="ctr">
                    <a:lnL>
                      <a:noFill/>
                    </a:lnL>
                    <a:lnR>
                      <a:noFill/>
                    </a:lnR>
                    <a:lnT>
                      <a:noFill/>
                    </a:lnT>
                    <a:lnB>
                      <a:noFill/>
                    </a:lnB>
                    <a:solidFill>
                      <a:schemeClr val="tx1">
                        <a:lumMod val="40000"/>
                        <a:lumOff val="60000"/>
                      </a:schemeClr>
                    </a:solidFill>
                  </a:tcPr>
                </a:tc>
                <a:tc>
                  <a:txBody>
                    <a:bodyPr/>
                    <a:lstStyle/>
                    <a:p>
                      <a:pPr algn="ctr">
                        <a:buNone/>
                      </a:pPr>
                      <a:r>
                        <a:rPr lang="en-US" sz="3600" dirty="0">
                          <a:highlight>
                            <a:srgbClr val="FFFF00"/>
                          </a:highlight>
                        </a:rPr>
                        <a:t>Q1</a:t>
                      </a:r>
                    </a:p>
                  </a:txBody>
                  <a:tcPr marL="15461" marR="15461" marT="7731" marB="7731" anchor="ctr">
                    <a:lnL>
                      <a:noFill/>
                    </a:lnL>
                    <a:lnR>
                      <a:noFill/>
                    </a:lnR>
                    <a:lnT>
                      <a:noFill/>
                    </a:lnT>
                    <a:lnB>
                      <a:noFill/>
                    </a:lnB>
                    <a:solidFill>
                      <a:schemeClr val="tx1">
                        <a:lumMod val="40000"/>
                        <a:lumOff val="60000"/>
                      </a:schemeClr>
                    </a:solidFill>
                  </a:tcPr>
                </a:tc>
                <a:extLst>
                  <a:ext uri="{0D108BD9-81ED-4DB2-BD59-A6C34878D82A}">
                    <a16:rowId xmlns:a16="http://schemas.microsoft.com/office/drawing/2014/main" val="2613514935"/>
                  </a:ext>
                </a:extLst>
              </a:tr>
            </a:tbl>
          </a:graphicData>
        </a:graphic>
      </p:graphicFrame>
      <p:pic>
        <p:nvPicPr>
          <p:cNvPr id="13" name="Content Placeholder 12">
            <a:extLst>
              <a:ext uri="{FF2B5EF4-FFF2-40B4-BE49-F238E27FC236}">
                <a16:creationId xmlns:a16="http://schemas.microsoft.com/office/drawing/2014/main" id="{3F869238-CF7D-B665-4D41-AD5358498F6F}"/>
              </a:ext>
            </a:extLst>
          </p:cNvPr>
          <p:cNvPicPr>
            <a:picLocks noGrp="1" noChangeAspect="1"/>
          </p:cNvPicPr>
          <p:nvPr>
            <p:ph sz="quarter" idx="15"/>
          </p:nvPr>
        </p:nvPicPr>
        <p:blipFill>
          <a:blip r:embed="rId3"/>
          <a:stretch>
            <a:fillRect/>
          </a:stretch>
        </p:blipFill>
        <p:spPr>
          <a:xfrm>
            <a:off x="22259863" y="6780608"/>
            <a:ext cx="9666313" cy="6444208"/>
          </a:xfrm>
          <a:prstGeom prst="rect">
            <a:avLst/>
          </a:prstGeom>
        </p:spPr>
      </p:pic>
      <p:pic>
        <p:nvPicPr>
          <p:cNvPr id="19" name="Content Placeholder 18">
            <a:extLst>
              <a:ext uri="{FF2B5EF4-FFF2-40B4-BE49-F238E27FC236}">
                <a16:creationId xmlns:a16="http://schemas.microsoft.com/office/drawing/2014/main" id="{F25849DF-B679-A8BF-E80B-EC9B3CA40FAF}"/>
              </a:ext>
            </a:extLst>
          </p:cNvPr>
          <p:cNvPicPr>
            <a:picLocks noGrp="1" noChangeAspect="1"/>
          </p:cNvPicPr>
          <p:nvPr>
            <p:ph sz="quarter" idx="17"/>
          </p:nvPr>
        </p:nvPicPr>
        <p:blipFill>
          <a:blip r:embed="rId4"/>
          <a:stretch>
            <a:fillRect/>
          </a:stretch>
        </p:blipFill>
        <p:spPr>
          <a:xfrm>
            <a:off x="12603241" y="17657830"/>
            <a:ext cx="8578704" cy="8578704"/>
          </a:xfrm>
          <a:prstGeom prst="rect">
            <a:avLst/>
          </a:prstGeom>
        </p:spPr>
      </p:pic>
      <p:sp>
        <p:nvSpPr>
          <p:cNvPr id="60" name="Text Placeholder 59">
            <a:extLst>
              <a:ext uri="{FF2B5EF4-FFF2-40B4-BE49-F238E27FC236}">
                <a16:creationId xmlns:a16="http://schemas.microsoft.com/office/drawing/2014/main" id="{7BCFFB22-A997-B2CD-3349-D9E601173250}"/>
              </a:ext>
            </a:extLst>
          </p:cNvPr>
          <p:cNvSpPr>
            <a:spLocks noGrp="1"/>
          </p:cNvSpPr>
          <p:nvPr>
            <p:ph type="body" sz="quarter" idx="26"/>
          </p:nvPr>
        </p:nvSpPr>
        <p:spPr>
          <a:xfrm>
            <a:off x="914399" y="3589089"/>
            <a:ext cx="42062399" cy="649922"/>
          </a:xfrm>
        </p:spPr>
        <p:txBody>
          <a:bodyPr/>
          <a:lstStyle/>
          <a:p>
            <a:r>
              <a:rPr lang="en-US" dirty="0"/>
              <a:t>By Carlos Perez (Graduate Student - Health Information Management)</a:t>
            </a:r>
          </a:p>
        </p:txBody>
      </p:sp>
      <p:sp>
        <p:nvSpPr>
          <p:cNvPr id="59" name="Text Placeholder 58">
            <a:extLst>
              <a:ext uri="{FF2B5EF4-FFF2-40B4-BE49-F238E27FC236}">
                <a16:creationId xmlns:a16="http://schemas.microsoft.com/office/drawing/2014/main" id="{80E9137C-C878-6CA6-6966-494B9A2EDF47}"/>
              </a:ext>
            </a:extLst>
          </p:cNvPr>
          <p:cNvSpPr>
            <a:spLocks noGrp="1"/>
          </p:cNvSpPr>
          <p:nvPr>
            <p:ph type="body" sz="quarter" idx="25"/>
          </p:nvPr>
        </p:nvSpPr>
        <p:spPr>
          <a:xfrm>
            <a:off x="914399" y="2500694"/>
            <a:ext cx="36880802" cy="845040"/>
          </a:xfrm>
        </p:spPr>
        <p:txBody>
          <a:bodyPr/>
          <a:lstStyle/>
          <a:p>
            <a:r>
              <a:rPr lang="en-US" sz="5400" i="1" dirty="0"/>
              <a:t>Suburban growth counties show lower aging-care provider density than urban cores across multiple Texas metros.</a:t>
            </a:r>
          </a:p>
        </p:txBody>
      </p:sp>
      <p:sp>
        <p:nvSpPr>
          <p:cNvPr id="24" name="Title 23">
            <a:extLst>
              <a:ext uri="{FF2B5EF4-FFF2-40B4-BE49-F238E27FC236}">
                <a16:creationId xmlns:a16="http://schemas.microsoft.com/office/drawing/2014/main" id="{40A99AD5-7B39-7E10-BCC2-EE523EAC51DD}"/>
              </a:ext>
            </a:extLst>
          </p:cNvPr>
          <p:cNvSpPr>
            <a:spLocks noGrp="1"/>
          </p:cNvSpPr>
          <p:nvPr>
            <p:ph type="title"/>
          </p:nvPr>
        </p:nvSpPr>
        <p:spPr>
          <a:xfrm>
            <a:off x="914401" y="914400"/>
            <a:ext cx="24003000" cy="1676245"/>
          </a:xfrm>
          <a:prstGeom prst="rect">
            <a:avLst/>
          </a:prstGeom>
        </p:spPr>
        <p:txBody>
          <a:bodyPr>
            <a:normAutofit/>
          </a:bodyPr>
          <a:lstStyle/>
          <a:p>
            <a:r>
              <a:rPr lang="en-US" dirty="0"/>
              <a:t>Is Texas Prepared for Its Aging Population?</a:t>
            </a:r>
          </a:p>
        </p:txBody>
      </p:sp>
      <p:sp>
        <p:nvSpPr>
          <p:cNvPr id="2" name="TextBox 1">
            <a:extLst>
              <a:ext uri="{FF2B5EF4-FFF2-40B4-BE49-F238E27FC236}">
                <a16:creationId xmlns:a16="http://schemas.microsoft.com/office/drawing/2014/main" id="{10F65400-E90D-E64E-D99F-94A4FF574B82}"/>
              </a:ext>
            </a:extLst>
          </p:cNvPr>
          <p:cNvSpPr txBox="1"/>
          <p:nvPr/>
        </p:nvSpPr>
        <p:spPr>
          <a:xfrm>
            <a:off x="1391478" y="5830135"/>
            <a:ext cx="10058400" cy="12988807"/>
          </a:xfrm>
          <a:prstGeom prst="rect">
            <a:avLst/>
          </a:prstGeom>
          <a:solidFill>
            <a:schemeClr val="bg1"/>
          </a:solidFill>
        </p:spPr>
        <p:txBody>
          <a:bodyPr wrap="square" rtlCol="0">
            <a:noAutofit/>
          </a:bodyPr>
          <a:lstStyle/>
          <a:p>
            <a:r>
              <a:rPr lang="en-US" sz="3200" b="1" dirty="0"/>
              <a:t>Background</a:t>
            </a:r>
          </a:p>
          <a:p>
            <a:r>
              <a:rPr lang="en-US" sz="3200" dirty="0"/>
              <a:t>Texas is experiencing rapid growth in its population age 65 and older. As communities age, local healthcare infrastructure must scale to support healthy aging and Medicare access.</a:t>
            </a:r>
          </a:p>
          <a:p>
            <a:r>
              <a:rPr lang="en-US" sz="3200" dirty="0"/>
              <a:t>This study evaluates whether county-level aging care infrastructure, including skilled nursing and home health services, aligns with demographic demand across Texas.</a:t>
            </a:r>
            <a:br>
              <a:rPr lang="en-US" sz="3200" dirty="0"/>
            </a:br>
            <a:endParaRPr lang="en-US" sz="3200" dirty="0"/>
          </a:p>
          <a:p>
            <a:r>
              <a:rPr lang="en-US" sz="3200" b="1" dirty="0"/>
              <a:t>Research Question</a:t>
            </a:r>
          </a:p>
          <a:p>
            <a:r>
              <a:rPr lang="en-US" sz="3200" dirty="0"/>
              <a:t>Are Texas counties structurally prepared to support their aging populations, or are infrastructure gaps emerging in suburban and rural regions?</a:t>
            </a:r>
            <a:br>
              <a:rPr lang="en-US" sz="3200" dirty="0"/>
            </a:br>
            <a:endParaRPr lang="en-US" sz="3200" dirty="0"/>
          </a:p>
          <a:p>
            <a:r>
              <a:rPr lang="en-US" sz="3200" b="1" dirty="0"/>
              <a:t>Why This Matters</a:t>
            </a:r>
          </a:p>
          <a:p>
            <a:r>
              <a:rPr lang="en-US" sz="3200" dirty="0"/>
              <a:t>Uneven infrastructure distribution may create geographic disparities in access to aging-related services.</a:t>
            </a:r>
          </a:p>
          <a:p>
            <a:endParaRPr lang="en-US" sz="3200" dirty="0"/>
          </a:p>
          <a:p>
            <a:endParaRPr lang="en-US" sz="3200" dirty="0"/>
          </a:p>
          <a:p>
            <a:endParaRPr lang="en-US" sz="3200" dirty="0"/>
          </a:p>
          <a:p>
            <a:endParaRPr lang="en-US" sz="3200" dirty="0"/>
          </a:p>
          <a:p>
            <a:endParaRPr lang="en-US" sz="3200" dirty="0"/>
          </a:p>
          <a:p>
            <a:r>
              <a:rPr lang="en-US" sz="3200" dirty="0"/>
              <a:t>This analysis directly aligns with the Aging Populations Wild Card by assessing community-level readiness for demographic aging.</a:t>
            </a:r>
          </a:p>
          <a:p>
            <a:endParaRPr lang="en-US" sz="3200" dirty="0"/>
          </a:p>
        </p:txBody>
      </p:sp>
      <p:sp>
        <p:nvSpPr>
          <p:cNvPr id="3" name="TextBox 2">
            <a:extLst>
              <a:ext uri="{FF2B5EF4-FFF2-40B4-BE49-F238E27FC236}">
                <a16:creationId xmlns:a16="http://schemas.microsoft.com/office/drawing/2014/main" id="{7A0FA32A-93A1-CCA7-E388-D4E913DC0ED8}"/>
              </a:ext>
            </a:extLst>
          </p:cNvPr>
          <p:cNvSpPr txBox="1"/>
          <p:nvPr/>
        </p:nvSpPr>
        <p:spPr>
          <a:xfrm>
            <a:off x="1391478" y="19337299"/>
            <a:ext cx="10058400" cy="12895222"/>
          </a:xfrm>
          <a:prstGeom prst="rect">
            <a:avLst/>
          </a:prstGeom>
          <a:solidFill>
            <a:schemeClr val="bg1"/>
          </a:solidFill>
        </p:spPr>
        <p:txBody>
          <a:bodyPr wrap="square" rtlCol="0">
            <a:noAutofit/>
          </a:bodyPr>
          <a:lstStyle/>
          <a:p>
            <a:pPr>
              <a:buNone/>
            </a:pPr>
            <a:r>
              <a:rPr lang="en-US" sz="3200" b="1" dirty="0"/>
              <a:t>Data Sources</a:t>
            </a:r>
          </a:p>
          <a:p>
            <a:pPr>
              <a:buNone/>
            </a:pPr>
            <a:r>
              <a:rPr lang="en-US" sz="3200" dirty="0"/>
              <a:t>• CMS Skilled Nursing Facility (SNF) Public Use File</a:t>
            </a:r>
            <a:br>
              <a:rPr lang="en-US" sz="3200" dirty="0"/>
            </a:br>
            <a:r>
              <a:rPr lang="en-US" sz="3200" dirty="0"/>
              <a:t>• CMS Home Health Agency (HHA) Public Use File</a:t>
            </a:r>
            <a:br>
              <a:rPr lang="en-US" sz="3200" dirty="0"/>
            </a:br>
            <a:r>
              <a:rPr lang="en-US" sz="3200" dirty="0"/>
              <a:t>• U.S. Census American Community Survey (2019–2023, 5-year)</a:t>
            </a:r>
            <a:br>
              <a:rPr lang="en-US" sz="3200" dirty="0"/>
            </a:br>
            <a:r>
              <a:rPr lang="en-US" sz="3200" dirty="0"/>
              <a:t>• HUD ZIP-to-County Crosswalk</a:t>
            </a:r>
          </a:p>
          <a:p>
            <a:pPr>
              <a:buNone/>
            </a:pPr>
            <a:r>
              <a:rPr lang="en-US" sz="3200" i="1" dirty="0"/>
              <a:t>All datasets are publicly available and reproducible.</a:t>
            </a:r>
          </a:p>
          <a:p>
            <a:endParaRPr lang="en-US" sz="3200" dirty="0">
              <a:effectLst/>
            </a:endParaRPr>
          </a:p>
          <a:p>
            <a:r>
              <a:rPr lang="en-US" sz="3200" b="1" dirty="0"/>
              <a:t>Geographic Standardization</a:t>
            </a:r>
          </a:p>
          <a:p>
            <a:r>
              <a:rPr lang="en-US" sz="3200" dirty="0"/>
              <a:t>• All records were standardized to 5-digit county GEOIDs.</a:t>
            </a:r>
            <a:br>
              <a:rPr lang="en-US" sz="3200" dirty="0"/>
            </a:br>
            <a:r>
              <a:rPr lang="en-US" sz="3200" dirty="0"/>
              <a:t>• HHA ZIP codes were mapped to counties using HUD crosswalk files.</a:t>
            </a:r>
            <a:br>
              <a:rPr lang="en-US" sz="3200" dirty="0"/>
            </a:br>
            <a:r>
              <a:rPr lang="en-US" sz="3200" dirty="0"/>
              <a:t>• All merges were validated using QC coverage summaries.</a:t>
            </a:r>
          </a:p>
          <a:p>
            <a:endParaRPr lang="en-US" sz="3200" dirty="0">
              <a:effectLst/>
            </a:endParaRPr>
          </a:p>
          <a:p>
            <a:r>
              <a:rPr lang="en-US" sz="3200" b="1" dirty="0"/>
              <a:t>Methods Overview</a:t>
            </a:r>
          </a:p>
          <a:p>
            <a:pPr marL="514350" indent="-514350">
              <a:buFont typeface="+mj-lt"/>
              <a:buAutoNum type="arabicPeriod"/>
            </a:pPr>
            <a:r>
              <a:rPr lang="en-US" sz="3200" dirty="0"/>
              <a:t>Ingest CMS provider datasets</a:t>
            </a:r>
          </a:p>
          <a:p>
            <a:pPr marL="514350" indent="-514350">
              <a:buFont typeface="+mj-lt"/>
              <a:buAutoNum type="arabicPeriod"/>
            </a:pPr>
            <a:r>
              <a:rPr lang="en-US" sz="3200" dirty="0"/>
              <a:t>Standardize geographic identifiers</a:t>
            </a:r>
          </a:p>
          <a:p>
            <a:pPr marL="514350" indent="-514350">
              <a:buFont typeface="+mj-lt"/>
              <a:buAutoNum type="arabicPeriod"/>
            </a:pPr>
            <a:r>
              <a:rPr lang="en-US" sz="3200" dirty="0"/>
              <a:t>Map ZIP codes to counties</a:t>
            </a:r>
          </a:p>
          <a:p>
            <a:pPr marL="514350" indent="-514350">
              <a:buFont typeface="+mj-lt"/>
              <a:buAutoNum type="arabicPeriod"/>
            </a:pPr>
            <a:r>
              <a:rPr lang="en-US" sz="3200" dirty="0"/>
              <a:t>Retrieve aging indicators via Census API</a:t>
            </a:r>
          </a:p>
          <a:p>
            <a:pPr marL="514350" indent="-514350">
              <a:buFont typeface="+mj-lt"/>
              <a:buAutoNum type="arabicPeriod"/>
            </a:pPr>
            <a:r>
              <a:rPr lang="en-US" sz="3200" dirty="0"/>
              <a:t>Aggregate county-level supply</a:t>
            </a:r>
          </a:p>
          <a:p>
            <a:pPr marL="514350" indent="-514350">
              <a:buFont typeface="+mj-lt"/>
              <a:buAutoNum type="arabicPeriod"/>
            </a:pPr>
            <a:r>
              <a:rPr lang="en-US" sz="3200" dirty="0"/>
              <a:t>Merge supply and demand</a:t>
            </a:r>
          </a:p>
          <a:p>
            <a:pPr marL="514350" indent="-514350">
              <a:buFont typeface="+mj-lt"/>
              <a:buAutoNum type="arabicPeriod"/>
            </a:pPr>
            <a:r>
              <a:rPr lang="en-US" sz="3200" dirty="0"/>
              <a:t>Compute preparedness tiers</a:t>
            </a:r>
          </a:p>
          <a:p>
            <a:r>
              <a:rPr lang="en-US" sz="3200" b="1" dirty="0"/>
              <a:t>All analysis conducted using reproducible R scripts and publicly available federal datasets.</a:t>
            </a:r>
          </a:p>
          <a:p>
            <a:endParaRPr lang="en-US" sz="3200" dirty="0"/>
          </a:p>
        </p:txBody>
      </p:sp>
      <p:sp>
        <p:nvSpPr>
          <p:cNvPr id="7" name="TextBox 6">
            <a:extLst>
              <a:ext uri="{FF2B5EF4-FFF2-40B4-BE49-F238E27FC236}">
                <a16:creationId xmlns:a16="http://schemas.microsoft.com/office/drawing/2014/main" id="{633EE957-41C8-4661-BA0B-7B2C81200423}"/>
              </a:ext>
            </a:extLst>
          </p:cNvPr>
          <p:cNvSpPr txBox="1"/>
          <p:nvPr/>
        </p:nvSpPr>
        <p:spPr>
          <a:xfrm>
            <a:off x="11950667" y="26954310"/>
            <a:ext cx="20337340" cy="4504488"/>
          </a:xfrm>
          <a:prstGeom prst="rect">
            <a:avLst/>
          </a:prstGeom>
          <a:solidFill>
            <a:schemeClr val="bg1"/>
          </a:solidFill>
        </p:spPr>
        <p:txBody>
          <a:bodyPr wrap="square" rtlCol="0">
            <a:noAutofit/>
          </a:bodyPr>
          <a:lstStyle/>
          <a:p>
            <a:pPr algn="ctr"/>
            <a:r>
              <a:rPr lang="en-US" sz="4400" b="1" dirty="0"/>
              <a:t>Data Challenges the Rural–Urban Shortage Narrative</a:t>
            </a:r>
          </a:p>
          <a:p>
            <a:pPr algn="ctr"/>
            <a:r>
              <a:rPr lang="en-US" sz="3200" dirty="0">
                <a:highlight>
                  <a:srgbClr val="FFFF00"/>
                </a:highlight>
              </a:rPr>
              <a:t>Provider shortages are not confined to rural Texas. Suburban counties surrounding major metros often show lower provider density than their urban cores.</a:t>
            </a:r>
          </a:p>
          <a:p>
            <a:r>
              <a:rPr lang="en-US" sz="2800" dirty="0"/>
              <a:t>• </a:t>
            </a:r>
            <a:r>
              <a:rPr lang="en-US" sz="2800" b="1" dirty="0"/>
              <a:t>Houston Metro:</a:t>
            </a:r>
            <a:r>
              <a:rPr lang="en-US" sz="2800" dirty="0"/>
              <a:t> Harris County (7.54 per 10k, Q3) vs. Montgomery County (2.37 per 10k, Q1).</a:t>
            </a:r>
            <a:br>
              <a:rPr lang="en-US" sz="2800" dirty="0"/>
            </a:br>
            <a:r>
              <a:rPr lang="en-US" sz="2800" dirty="0"/>
              <a:t>Montgomery has less than one-third the provider density of Harris County.</a:t>
            </a:r>
          </a:p>
          <a:p>
            <a:r>
              <a:rPr lang="en-US" sz="2800" dirty="0"/>
              <a:t>• </a:t>
            </a:r>
            <a:r>
              <a:rPr lang="en-US" sz="2800" b="1" dirty="0"/>
              <a:t>Austin Metro:</a:t>
            </a:r>
            <a:r>
              <a:rPr lang="en-US" sz="2800" dirty="0"/>
              <a:t> Travis (4.00), Williamson (4.13), and Hays (3.93) all fall in the lowest statewide quartile (Q1).</a:t>
            </a:r>
          </a:p>
          <a:p>
            <a:r>
              <a:rPr lang="en-US" sz="2800" dirty="0"/>
              <a:t>• </a:t>
            </a:r>
            <a:r>
              <a:rPr lang="en-US" sz="2800" b="1" dirty="0"/>
              <a:t>Dallas Metro:</a:t>
            </a:r>
            <a:r>
              <a:rPr lang="en-US" sz="2800" dirty="0"/>
              <a:t> Dallas County (14.88 per 10k, Q4) exceeds Denton (6.69, Q2) and Collin (8.58, Q3). Dallas County (14.88 per 10k) has more than six times the provider density of Montgomery County (2.37 per 10k).</a:t>
            </a:r>
          </a:p>
          <a:p>
            <a:pPr algn="ctr"/>
            <a:r>
              <a:rPr lang="en-US" sz="2800" b="1" dirty="0"/>
              <a:t>Preparedness gaps reflect suburban growth pressure and infrastructure lag — not rural isolation alone.</a:t>
            </a:r>
            <a:endParaRPr lang="en-US" sz="2800" dirty="0"/>
          </a:p>
          <a:p>
            <a:endParaRPr lang="en-US" sz="2800" dirty="0"/>
          </a:p>
        </p:txBody>
      </p:sp>
      <p:sp>
        <p:nvSpPr>
          <p:cNvPr id="10" name="TextBox 9">
            <a:extLst>
              <a:ext uri="{FF2B5EF4-FFF2-40B4-BE49-F238E27FC236}">
                <a16:creationId xmlns:a16="http://schemas.microsoft.com/office/drawing/2014/main" id="{299E3672-12AC-5D3D-4807-34A87C67D040}"/>
              </a:ext>
            </a:extLst>
          </p:cNvPr>
          <p:cNvSpPr txBox="1"/>
          <p:nvPr/>
        </p:nvSpPr>
        <p:spPr>
          <a:xfrm>
            <a:off x="32568251" y="19470026"/>
            <a:ext cx="10058399" cy="7206818"/>
          </a:xfrm>
          <a:prstGeom prst="rect">
            <a:avLst/>
          </a:prstGeom>
          <a:solidFill>
            <a:schemeClr val="bg1"/>
          </a:solidFill>
        </p:spPr>
        <p:txBody>
          <a:bodyPr wrap="square" rtlCol="0">
            <a:noAutofit/>
          </a:bodyPr>
          <a:lstStyle/>
          <a:p>
            <a:r>
              <a:rPr lang="en-US" sz="3200" b="1" dirty="0"/>
              <a:t>Limitations</a:t>
            </a:r>
          </a:p>
          <a:p>
            <a:r>
              <a:rPr lang="en-US" sz="3200" dirty="0"/>
              <a:t>• Provider counts reflect facility presence, not bed capacity or staffing levels.</a:t>
            </a:r>
            <a:br>
              <a:rPr lang="en-US" sz="3200" dirty="0"/>
            </a:br>
            <a:r>
              <a:rPr lang="en-US" sz="3200" dirty="0"/>
              <a:t>• Assisted living and hospital-based capacity were not included.</a:t>
            </a:r>
            <a:br>
              <a:rPr lang="en-US" sz="3200" dirty="0"/>
            </a:br>
            <a:r>
              <a:rPr lang="en-US" sz="3200" dirty="0"/>
              <a:t>• Cross-county utilization is not captured.</a:t>
            </a:r>
            <a:br>
              <a:rPr lang="en-US" sz="3200" dirty="0"/>
            </a:br>
            <a:r>
              <a:rPr lang="en-US" sz="3200" dirty="0"/>
              <a:t>• Analysis represents a cross-sectional snapshot.</a:t>
            </a:r>
            <a:br>
              <a:rPr lang="en-US" sz="3200" dirty="0"/>
            </a:br>
            <a:endParaRPr lang="en-US" sz="3200" dirty="0"/>
          </a:p>
          <a:p>
            <a:r>
              <a:rPr lang="en-US" sz="3200" b="1" dirty="0"/>
              <a:t>Future Extensions</a:t>
            </a:r>
          </a:p>
          <a:p>
            <a:r>
              <a:rPr lang="en-US" sz="3200" dirty="0"/>
              <a:t>• Incorporate bed capacity and occupancy data.</a:t>
            </a:r>
            <a:br>
              <a:rPr lang="en-US" sz="3200" dirty="0"/>
            </a:br>
            <a:r>
              <a:rPr lang="en-US" sz="3200" dirty="0"/>
              <a:t>• Integrate Medicare utilization patterns.</a:t>
            </a:r>
            <a:br>
              <a:rPr lang="en-US" sz="3200" dirty="0"/>
            </a:br>
            <a:r>
              <a:rPr lang="en-US" sz="3200" dirty="0"/>
              <a:t>• Model projected aging growth.</a:t>
            </a:r>
            <a:br>
              <a:rPr lang="en-US" sz="3200" dirty="0"/>
            </a:br>
            <a:r>
              <a:rPr lang="en-US" sz="3200" dirty="0"/>
              <a:t>• Assess regional equity across metro and rural counties.</a:t>
            </a:r>
          </a:p>
        </p:txBody>
      </p:sp>
      <p:sp>
        <p:nvSpPr>
          <p:cNvPr id="11" name="TextBox 10">
            <a:extLst>
              <a:ext uri="{FF2B5EF4-FFF2-40B4-BE49-F238E27FC236}">
                <a16:creationId xmlns:a16="http://schemas.microsoft.com/office/drawing/2014/main" id="{6D7A9712-7595-EDB2-9D53-7664804F4EC5}"/>
              </a:ext>
            </a:extLst>
          </p:cNvPr>
          <p:cNvSpPr txBox="1"/>
          <p:nvPr/>
        </p:nvSpPr>
        <p:spPr>
          <a:xfrm>
            <a:off x="32550182" y="26896446"/>
            <a:ext cx="10058399" cy="1679498"/>
          </a:xfrm>
          <a:prstGeom prst="rect">
            <a:avLst/>
          </a:prstGeom>
          <a:noFill/>
        </p:spPr>
        <p:txBody>
          <a:bodyPr wrap="square" rtlCol="0">
            <a:noAutofit/>
          </a:bodyPr>
          <a:lstStyle/>
          <a:p>
            <a:r>
              <a:rPr lang="en-US" sz="2200" b="1" dirty="0">
                <a:solidFill>
                  <a:schemeClr val="bg1"/>
                </a:solidFill>
                <a:effectLst/>
              </a:rPr>
              <a:t>Artificial Intelligence Disclosure:</a:t>
            </a:r>
          </a:p>
          <a:p>
            <a:r>
              <a:rPr lang="en-US" sz="2200" dirty="0">
                <a:solidFill>
                  <a:schemeClr val="bg1"/>
                </a:solidFill>
              </a:rPr>
              <a:t>AI tools were used to assist with workflow structuring and documentation drafting. All analytical logic, metric construction, and conclusions were developed and validated by the project author.</a:t>
            </a:r>
            <a:endParaRPr lang="en-US" sz="2200" dirty="0">
              <a:solidFill>
                <a:schemeClr val="bg1"/>
              </a:solidFill>
              <a:effectLst/>
            </a:endParaRPr>
          </a:p>
        </p:txBody>
      </p:sp>
      <p:sp>
        <p:nvSpPr>
          <p:cNvPr id="6" name="TextBox 5">
            <a:extLst>
              <a:ext uri="{FF2B5EF4-FFF2-40B4-BE49-F238E27FC236}">
                <a16:creationId xmlns:a16="http://schemas.microsoft.com/office/drawing/2014/main" id="{EEB7C067-A974-918C-5574-A4C55A1A9B7B}"/>
              </a:ext>
            </a:extLst>
          </p:cNvPr>
          <p:cNvSpPr txBox="1"/>
          <p:nvPr/>
        </p:nvSpPr>
        <p:spPr>
          <a:xfrm>
            <a:off x="32568253" y="5830136"/>
            <a:ext cx="10058397" cy="7618240"/>
          </a:xfrm>
          <a:prstGeom prst="rect">
            <a:avLst/>
          </a:prstGeom>
          <a:solidFill>
            <a:schemeClr val="bg1"/>
          </a:solidFill>
        </p:spPr>
        <p:txBody>
          <a:bodyPr wrap="square" rtlCol="0">
            <a:noAutofit/>
          </a:bodyPr>
          <a:lstStyle/>
          <a:p>
            <a:r>
              <a:rPr lang="en-US" sz="3200" b="1" dirty="0"/>
              <a:t>Interpretation</a:t>
            </a:r>
          </a:p>
          <a:p>
            <a:r>
              <a:rPr lang="en-US" sz="3200" dirty="0"/>
              <a:t>Infrastructure alignment varies significantly across Texas.</a:t>
            </a:r>
            <a:br>
              <a:rPr lang="en-US" sz="3200" dirty="0"/>
            </a:br>
            <a:r>
              <a:rPr lang="en-US" sz="3200" dirty="0"/>
              <a:t>Preparedness gaps are not limited to small rural counties and may emerge in fast-growing suburban regions where demographic aging is accelerating.</a:t>
            </a:r>
          </a:p>
          <a:p>
            <a:r>
              <a:rPr lang="en-US" sz="3200" dirty="0"/>
              <a:t>This suggests structural readiness does not automatically scale with population growth.</a:t>
            </a:r>
          </a:p>
          <a:p>
            <a:endParaRPr lang="en-US" sz="3200" dirty="0"/>
          </a:p>
          <a:p>
            <a:r>
              <a:rPr lang="en-US" sz="3200" b="1" dirty="0"/>
              <a:t>Why This Matters for Aging Populations</a:t>
            </a:r>
          </a:p>
          <a:p>
            <a:r>
              <a:rPr lang="en-US" sz="3200" dirty="0"/>
              <a:t>Local infrastructure is foundational to healthy aging.</a:t>
            </a:r>
            <a:br>
              <a:rPr lang="en-US" sz="3200" dirty="0"/>
            </a:br>
            <a:r>
              <a:rPr lang="en-US" sz="3200" dirty="0"/>
              <a:t>Counties with limited provider presence may experience increased travel burden, delayed post-acute care, and greater geographic disparities in Medicare-supported services.</a:t>
            </a:r>
          </a:p>
          <a:p>
            <a:endParaRPr lang="en-US" sz="32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0A848C3-85F1-1F09-DF5E-CB6873716C77}"/>
                  </a:ext>
                </a:extLst>
              </p:cNvPr>
              <p:cNvSpPr txBox="1"/>
              <p:nvPr/>
            </p:nvSpPr>
            <p:spPr>
              <a:xfrm>
                <a:off x="12014872" y="6830358"/>
                <a:ext cx="10058399" cy="8040171"/>
              </a:xfrm>
              <a:prstGeom prst="rect">
                <a:avLst/>
              </a:prstGeom>
              <a:solidFill>
                <a:schemeClr val="bg1"/>
              </a:solidFill>
            </p:spPr>
            <p:txBody>
              <a:bodyPr wrap="square" rtlCol="0">
                <a:noAutofit/>
              </a:bodyPr>
              <a:lstStyle/>
              <a:p>
                <a:r>
                  <a:rPr lang="en-US" sz="3200" dirty="0"/>
                  <a:t>Preparedness is defined as:</a:t>
                </a:r>
              </a:p>
              <a:p>
                <a:endParaRPr lang="en-US" sz="3200" dirty="0"/>
              </a:p>
              <a:p>
                <a:pPr/>
                <a14:m>
                  <m:oMathPara xmlns:m="http://schemas.openxmlformats.org/officeDocument/2006/math">
                    <m:oMathParaPr>
                      <m:jc m:val="centerGroup"/>
                    </m:oMathParaPr>
                    <m:oMath xmlns:m="http://schemas.openxmlformats.org/officeDocument/2006/math">
                      <m:r>
                        <m:rPr>
                          <m:nor/>
                        </m:rPr>
                        <a:rPr lang="en-US" sz="3200" b="0">
                          <a:highlight>
                            <a:srgbClr val="FFFF00"/>
                          </a:highlight>
                        </a:rPr>
                        <m:t>𝐏𝐫𝐨𝐯𝐢𝐝𝐞𝐫𝐬</m:t>
                      </m:r>
                      <m:r>
                        <m:rPr>
                          <m:nor/>
                        </m:rPr>
                        <a:rPr lang="en-US" sz="3200" b="0" i="1">
                          <a:highlight>
                            <a:srgbClr val="FFFF00"/>
                          </a:highlight>
                        </a:rPr>
                        <m:t> </m:t>
                      </m:r>
                      <m:r>
                        <m:rPr>
                          <m:nor/>
                        </m:rPr>
                        <a:rPr lang="en-US" sz="3200" b="0" i="1">
                          <a:highlight>
                            <a:srgbClr val="FFFF00"/>
                          </a:highlight>
                        </a:rPr>
                        <m:t>𝐩𝐞𝐫</m:t>
                      </m:r>
                      <m:r>
                        <m:rPr>
                          <m:nor/>
                        </m:rPr>
                        <a:rPr lang="en-US" sz="3200" b="0" i="1">
                          <a:highlight>
                            <a:srgbClr val="FFFF00"/>
                          </a:highlight>
                        </a:rPr>
                        <m:t> </m:t>
                      </m:r>
                      <m:r>
                        <m:rPr>
                          <m:nor/>
                        </m:rPr>
                        <a:rPr lang="en-US" sz="3200" b="0" i="1">
                          <a:highlight>
                            <a:srgbClr val="FFFF00"/>
                          </a:highlight>
                        </a:rPr>
                        <m:t>𝟏𝟎</m:t>
                      </m:r>
                      <m:r>
                        <m:rPr>
                          <m:nor/>
                        </m:rPr>
                        <a:rPr lang="en-US" sz="3200" b="0" i="1">
                          <a:highlight>
                            <a:srgbClr val="FFFF00"/>
                          </a:highlight>
                        </a:rPr>
                        <m:t>,</m:t>
                      </m:r>
                      <m:r>
                        <m:rPr>
                          <m:nor/>
                        </m:rPr>
                        <a:rPr lang="en-US" sz="3200" b="0" i="1">
                          <a:highlight>
                            <a:srgbClr val="FFFF00"/>
                          </a:highlight>
                        </a:rPr>
                        <m:t>𝟎𝟎𝟎</m:t>
                      </m:r>
                      <m:r>
                        <m:rPr>
                          <m:nor/>
                        </m:rPr>
                        <a:rPr lang="en-US" sz="3200" b="0" i="1">
                          <a:highlight>
                            <a:srgbClr val="FFFF00"/>
                          </a:highlight>
                        </a:rPr>
                        <m:t> </m:t>
                      </m:r>
                      <m:r>
                        <m:rPr>
                          <m:nor/>
                        </m:rPr>
                        <a:rPr lang="en-US" sz="3200" b="0" i="1">
                          <a:highlight>
                            <a:srgbClr val="FFFF00"/>
                          </a:highlight>
                        </a:rPr>
                        <m:t>𝐫𝐞𝐬𝐢𝐝𝐞𝐧𝐭𝐬</m:t>
                      </m:r>
                      <m:r>
                        <m:rPr>
                          <m:nor/>
                        </m:rPr>
                        <a:rPr lang="en-US" sz="3200" b="0" i="1">
                          <a:highlight>
                            <a:srgbClr val="FFFF00"/>
                          </a:highlight>
                        </a:rPr>
                        <m:t> </m:t>
                      </m:r>
                      <m:r>
                        <m:rPr>
                          <m:nor/>
                        </m:rPr>
                        <a:rPr lang="en-US" sz="3200" b="0" i="1">
                          <a:highlight>
                            <a:srgbClr val="FFFF00"/>
                          </a:highlight>
                        </a:rPr>
                        <m:t>𝐚𝐠𝐞</m:t>
                      </m:r>
                      <m:r>
                        <m:rPr>
                          <m:nor/>
                        </m:rPr>
                        <a:rPr lang="en-US" sz="3200" b="0" i="1">
                          <a:highlight>
                            <a:srgbClr val="FFFF00"/>
                          </a:highlight>
                        </a:rPr>
                        <m:t> </m:t>
                      </m:r>
                      <m:r>
                        <m:rPr>
                          <m:nor/>
                        </m:rPr>
                        <a:rPr lang="en-US" sz="3200" b="0" i="1">
                          <a:highlight>
                            <a:srgbClr val="FFFF00"/>
                          </a:highlight>
                        </a:rPr>
                        <m:t>𝟔𝟓</m:t>
                      </m:r>
                      <m:r>
                        <m:rPr>
                          <m:nor/>
                        </m:rPr>
                        <a:rPr lang="en-US" sz="3200" b="0" i="1">
                          <a:highlight>
                            <a:srgbClr val="FFFF00"/>
                          </a:highlight>
                        </a:rPr>
                        <m:t>+</m:t>
                      </m:r>
                    </m:oMath>
                  </m:oMathPara>
                </a14:m>
                <a:endParaRPr lang="en-US" sz="3200" b="0" dirty="0">
                  <a:highlight>
                    <a:srgbClr val="FFFF00"/>
                  </a:highlight>
                </a:endParaRPr>
              </a:p>
              <a:p>
                <a:endParaRPr lang="en-US" sz="2800" b="1" dirty="0"/>
              </a:p>
              <a:p>
                <a:r>
                  <a:rPr lang="en-US" sz="2800" b="1" dirty="0"/>
                  <a:t>Providers = </a:t>
                </a:r>
                <a:r>
                  <a:rPr lang="en-US" sz="2800" dirty="0"/>
                  <a:t>Skilled Nursing Facilities (SNF)</a:t>
                </a:r>
              </a:p>
              <a:p>
                <a:r>
                  <a:rPr lang="en-US" sz="2800" dirty="0"/>
                  <a:t>Home Health Agencies (HHA)</a:t>
                </a:r>
              </a:p>
              <a:p>
                <a:r>
                  <a:rPr lang="en-US" sz="2800" b="1" dirty="0"/>
                  <a:t>Denominator = </a:t>
                </a:r>
                <a:r>
                  <a:rPr lang="en-US" sz="2800" dirty="0"/>
                  <a:t>County-level population age 65+ (ACS 2019–2023 5-year estimate) </a:t>
                </a:r>
              </a:p>
              <a:p>
                <a:endParaRPr lang="en-US" sz="2800" dirty="0"/>
              </a:p>
              <a:p>
                <a:r>
                  <a:rPr lang="en-US" sz="2800" b="1" dirty="0"/>
                  <a:t>Counties were classified as:</a:t>
                </a:r>
              </a:p>
              <a:p>
                <a:r>
                  <a:rPr lang="en-US" sz="2800" dirty="0"/>
                  <a:t>• Zero providers with at least 1,000 residents age 65+</a:t>
                </a:r>
                <a:br>
                  <a:rPr lang="en-US" sz="2800" dirty="0"/>
                </a:br>
                <a:r>
                  <a:rPr lang="en-US" sz="2800" dirty="0"/>
                  <a:t>• Low density (lowest quartile among eligible counties)</a:t>
                </a:r>
                <a:br>
                  <a:rPr lang="en-US" sz="2800" dirty="0"/>
                </a:br>
                <a:r>
                  <a:rPr lang="en-US" sz="2800" dirty="0"/>
                  <a:t>• Moderate density (middle quartiles, Q2–Q3)</a:t>
                </a:r>
                <a:br>
                  <a:rPr lang="en-US" sz="2800" dirty="0"/>
                </a:br>
                <a:r>
                  <a:rPr lang="en-US" sz="2800" dirty="0"/>
                  <a:t>• Higher capacity (upper 75 percent)</a:t>
                </a:r>
              </a:p>
              <a:p>
                <a:r>
                  <a:rPr lang="en-US" sz="2800" b="1" dirty="0"/>
                  <a:t>This metric assesses structural infrastructure relative to aging demand. </a:t>
                </a:r>
                <a:r>
                  <a:rPr lang="en-US" sz="2800" dirty="0"/>
                  <a:t>Quartiles based on providers per 10,000 residents age 65+ among eligible Texas counties (≥1,000 seniors).</a:t>
                </a:r>
              </a:p>
              <a:p>
                <a:endParaRPr lang="en-US" sz="3200" b="1" dirty="0"/>
              </a:p>
              <a:p>
                <a:endParaRPr lang="en-US" sz="3200" b="1" dirty="0"/>
              </a:p>
              <a:p>
                <a:endParaRPr lang="en-US" sz="2800" dirty="0"/>
              </a:p>
            </p:txBody>
          </p:sp>
        </mc:Choice>
        <mc:Fallback xmlns="">
          <p:sp>
            <p:nvSpPr>
              <p:cNvPr id="15" name="TextBox 14">
                <a:extLst>
                  <a:ext uri="{FF2B5EF4-FFF2-40B4-BE49-F238E27FC236}">
                    <a16:creationId xmlns:a16="http://schemas.microsoft.com/office/drawing/2014/main" id="{F0A848C3-85F1-1F09-DF5E-CB6873716C77}"/>
                  </a:ext>
                </a:extLst>
              </p:cNvPr>
              <p:cNvSpPr txBox="1">
                <a:spLocks noRot="1" noChangeAspect="1" noMove="1" noResize="1" noEditPoints="1" noAdjustHandles="1" noChangeArrowheads="1" noChangeShapeType="1" noTextEdit="1"/>
              </p:cNvSpPr>
              <p:nvPr/>
            </p:nvSpPr>
            <p:spPr>
              <a:xfrm>
                <a:off x="12014872" y="6830358"/>
                <a:ext cx="10058399" cy="8040171"/>
              </a:xfrm>
              <a:prstGeom prst="rect">
                <a:avLst/>
              </a:prstGeom>
              <a:blipFill>
                <a:blip r:embed="rId5"/>
                <a:stretch>
                  <a:fillRect l="-1576" t="-910" b="-1061"/>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1E253BEB-E93B-BA2E-D093-FF48E4028304}"/>
              </a:ext>
            </a:extLst>
          </p:cNvPr>
          <p:cNvSpPr txBox="1"/>
          <p:nvPr/>
        </p:nvSpPr>
        <p:spPr>
          <a:xfrm>
            <a:off x="22335310" y="13411618"/>
            <a:ext cx="9590866" cy="1200329"/>
          </a:xfrm>
          <a:prstGeom prst="rect">
            <a:avLst/>
          </a:prstGeom>
          <a:noFill/>
        </p:spPr>
        <p:txBody>
          <a:bodyPr wrap="square" rtlCol="0">
            <a:spAutoFit/>
          </a:bodyPr>
          <a:lstStyle/>
          <a:p>
            <a:r>
              <a:rPr lang="en-US" sz="3600" dirty="0"/>
              <a:t>Larger aging populations do not consistently correlate with higher provider density.</a:t>
            </a:r>
          </a:p>
        </p:txBody>
      </p:sp>
      <p:sp>
        <p:nvSpPr>
          <p:cNvPr id="26" name="TextBox 25">
            <a:extLst>
              <a:ext uri="{FF2B5EF4-FFF2-40B4-BE49-F238E27FC236}">
                <a16:creationId xmlns:a16="http://schemas.microsoft.com/office/drawing/2014/main" id="{CCFA2D62-CAD4-52F0-0ECB-ACACC194C535}"/>
              </a:ext>
            </a:extLst>
          </p:cNvPr>
          <p:cNvSpPr txBox="1"/>
          <p:nvPr/>
        </p:nvSpPr>
        <p:spPr>
          <a:xfrm>
            <a:off x="16309313" y="6041944"/>
            <a:ext cx="14494924" cy="738664"/>
          </a:xfrm>
          <a:prstGeom prst="rect">
            <a:avLst/>
          </a:prstGeom>
          <a:noFill/>
        </p:spPr>
        <p:txBody>
          <a:bodyPr wrap="square" rtlCol="0">
            <a:spAutoFit/>
          </a:bodyPr>
          <a:lstStyle/>
          <a:p>
            <a:r>
              <a:rPr lang="en-US" sz="4200" b="1" dirty="0"/>
              <a:t>Defining a Community Preparedness Metric</a:t>
            </a:r>
          </a:p>
        </p:txBody>
      </p:sp>
      <p:sp>
        <p:nvSpPr>
          <p:cNvPr id="28" name="Rectangle 27">
            <a:extLst>
              <a:ext uri="{FF2B5EF4-FFF2-40B4-BE49-F238E27FC236}">
                <a16:creationId xmlns:a16="http://schemas.microsoft.com/office/drawing/2014/main" id="{AC0F7DD0-BE09-91FF-D8B3-D8920B4047C8}"/>
              </a:ext>
            </a:extLst>
          </p:cNvPr>
          <p:cNvSpPr/>
          <p:nvPr/>
        </p:nvSpPr>
        <p:spPr>
          <a:xfrm>
            <a:off x="32568251" y="13500006"/>
            <a:ext cx="10058399" cy="1679498"/>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600" b="1" i="1" spc="300" dirty="0">
                <a:solidFill>
                  <a:schemeClr val="tx1">
                    <a:lumMod val="50000"/>
                  </a:schemeClr>
                </a:solidFill>
                <a:effectLst/>
                <a:highlight>
                  <a:srgbClr val="FFFF00"/>
                </a:highlight>
              </a:rPr>
              <a:t>Identifying structural misalignment supports proactive regional planning.</a:t>
            </a:r>
          </a:p>
        </p:txBody>
      </p:sp>
      <p:sp>
        <p:nvSpPr>
          <p:cNvPr id="29" name="TextBox 28">
            <a:extLst>
              <a:ext uri="{FF2B5EF4-FFF2-40B4-BE49-F238E27FC236}">
                <a16:creationId xmlns:a16="http://schemas.microsoft.com/office/drawing/2014/main" id="{674F9F12-E5FC-5420-9FAF-A5CFA96E07CD}"/>
              </a:ext>
            </a:extLst>
          </p:cNvPr>
          <p:cNvSpPr txBox="1"/>
          <p:nvPr/>
        </p:nvSpPr>
        <p:spPr>
          <a:xfrm>
            <a:off x="32568252" y="15237677"/>
            <a:ext cx="10098084" cy="4012748"/>
          </a:xfrm>
          <a:prstGeom prst="rect">
            <a:avLst/>
          </a:prstGeom>
          <a:solidFill>
            <a:schemeClr val="bg1"/>
          </a:solidFill>
        </p:spPr>
        <p:txBody>
          <a:bodyPr wrap="square" rtlCol="0">
            <a:noAutofit/>
          </a:bodyPr>
          <a:lstStyle/>
          <a:p>
            <a:r>
              <a:rPr lang="en-US" sz="4200" b="1" dirty="0"/>
              <a:t>Key Findings</a:t>
            </a:r>
          </a:p>
          <a:p>
            <a:r>
              <a:rPr lang="en-US" sz="3200" dirty="0"/>
              <a:t>• Several large suburban counties fall into low preparedness tiers despite substantial aging populations.</a:t>
            </a:r>
            <a:br>
              <a:rPr lang="en-US" sz="3200" dirty="0"/>
            </a:br>
            <a:r>
              <a:rPr lang="en-US" sz="3200" dirty="0"/>
              <a:t>• Seven eligible counties have zero identified providers.</a:t>
            </a:r>
            <a:br>
              <a:rPr lang="en-US" sz="3200" dirty="0"/>
            </a:br>
            <a:r>
              <a:rPr lang="en-US" sz="3200" dirty="0"/>
              <a:t>• Infrastructure is concentrated in metro cores, with uneven distribution across surrounding regions.</a:t>
            </a:r>
          </a:p>
          <a:p>
            <a:endParaRPr lang="en-US" sz="2800" dirty="0"/>
          </a:p>
        </p:txBody>
      </p:sp>
      <p:sp>
        <p:nvSpPr>
          <p:cNvPr id="31" name="Rectangle 30">
            <a:extLst>
              <a:ext uri="{FF2B5EF4-FFF2-40B4-BE49-F238E27FC236}">
                <a16:creationId xmlns:a16="http://schemas.microsoft.com/office/drawing/2014/main" id="{927E414F-EB5D-8EDD-2781-8C856C5BBE61}"/>
              </a:ext>
            </a:extLst>
          </p:cNvPr>
          <p:cNvSpPr/>
          <p:nvPr/>
        </p:nvSpPr>
        <p:spPr>
          <a:xfrm>
            <a:off x="1424792" y="14815821"/>
            <a:ext cx="10098085" cy="2241487"/>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200" b="1" spc="300" dirty="0">
                <a:solidFill>
                  <a:schemeClr val="tx1">
                    <a:lumMod val="50000"/>
                  </a:schemeClr>
                </a:solidFill>
                <a:effectLst/>
                <a:highlight>
                  <a:srgbClr val="FFFF00"/>
                </a:highlight>
              </a:rPr>
              <a:t>Identifying counties where infrastructure lags demographic growth can inform proactive planning and more equitable resource allocation.</a:t>
            </a:r>
          </a:p>
        </p:txBody>
      </p:sp>
      <p:sp>
        <p:nvSpPr>
          <p:cNvPr id="32" name="Title 23">
            <a:extLst>
              <a:ext uri="{FF2B5EF4-FFF2-40B4-BE49-F238E27FC236}">
                <a16:creationId xmlns:a16="http://schemas.microsoft.com/office/drawing/2014/main" id="{A0FCD952-499E-C24B-0BCB-408364E1CAFB}"/>
              </a:ext>
            </a:extLst>
          </p:cNvPr>
          <p:cNvSpPr txBox="1">
            <a:spLocks/>
          </p:cNvSpPr>
          <p:nvPr/>
        </p:nvSpPr>
        <p:spPr>
          <a:xfrm>
            <a:off x="35706948" y="174942"/>
            <a:ext cx="7269850" cy="3330151"/>
          </a:xfrm>
          <a:prstGeom prst="rect">
            <a:avLst/>
          </a:prstGeom>
        </p:spPr>
        <p:txBody>
          <a:bodyPr vert="horz" lIns="91440" tIns="45720" rIns="91440" bIns="45720" rtlCol="0" anchor="ctr">
            <a:normAutofit/>
          </a:bodyPr>
          <a:lstStyle>
            <a:lvl1pPr algn="l" defTabSz="4389120" rtl="0" eaLnBrk="1" latinLnBrk="0" hangingPunct="1">
              <a:lnSpc>
                <a:spcPct val="90000"/>
              </a:lnSpc>
              <a:spcBef>
                <a:spcPct val="0"/>
              </a:spcBef>
              <a:buNone/>
              <a:defRPr sz="10400" kern="1200">
                <a:solidFill>
                  <a:schemeClr val="accent1"/>
                </a:solidFill>
                <a:latin typeface="+mj-lt"/>
                <a:ea typeface="+mj-ea"/>
                <a:cs typeface="+mj-cs"/>
              </a:defRPr>
            </a:lvl1pPr>
          </a:lstStyle>
          <a:p>
            <a:pPr algn="r"/>
            <a:r>
              <a:rPr lang="en-US" sz="6600" dirty="0"/>
              <a:t>Texas State </a:t>
            </a:r>
          </a:p>
          <a:p>
            <a:pPr algn="r"/>
            <a:r>
              <a:rPr lang="en-US" sz="6600" dirty="0" err="1"/>
              <a:t>Datathon</a:t>
            </a:r>
            <a:r>
              <a:rPr lang="en-US" sz="6600" dirty="0"/>
              <a:t> 2026</a:t>
            </a:r>
          </a:p>
          <a:p>
            <a:pPr algn="r"/>
            <a:r>
              <a:rPr lang="en-US" sz="6600" dirty="0"/>
              <a:t>Wild Card</a:t>
            </a:r>
          </a:p>
        </p:txBody>
      </p:sp>
      <p:sp>
        <p:nvSpPr>
          <p:cNvPr id="33" name="TextBox 2">
            <a:extLst>
              <a:ext uri="{FF2B5EF4-FFF2-40B4-BE49-F238E27FC236}">
                <a16:creationId xmlns:a16="http://schemas.microsoft.com/office/drawing/2014/main" id="{BAA828EE-FCAD-5CDC-47A6-9F865016E7B7}"/>
              </a:ext>
            </a:extLst>
          </p:cNvPr>
          <p:cNvSpPr txBox="1"/>
          <p:nvPr/>
        </p:nvSpPr>
        <p:spPr>
          <a:xfrm>
            <a:off x="22335309" y="16212343"/>
            <a:ext cx="9952697" cy="1446550"/>
          </a:xfrm>
          <a:prstGeom prst="rect">
            <a:avLst/>
          </a:prstGeom>
          <a:solidFill>
            <a:schemeClr val="bg2">
              <a:lumMod val="50000"/>
            </a:schemeClr>
          </a:solid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800" b="1"/>
            </a:pPr>
            <a:r>
              <a:rPr sz="4400" dirty="0">
                <a:solidFill>
                  <a:schemeClr val="bg2">
                    <a:lumMod val="10000"/>
                  </a:schemeClr>
                </a:solidFill>
              </a:rPr>
              <a:t>Top 5 Texas Counties </a:t>
            </a:r>
            <a:endParaRPr lang="en-US" sz="4400" dirty="0">
              <a:solidFill>
                <a:schemeClr val="bg2">
                  <a:lumMod val="10000"/>
                </a:schemeClr>
              </a:solidFill>
            </a:endParaRPr>
          </a:p>
          <a:p>
            <a:pPr algn="ctr">
              <a:defRPr sz="2800" b="1"/>
            </a:pPr>
            <a:r>
              <a:rPr sz="4400" dirty="0">
                <a:solidFill>
                  <a:schemeClr val="bg2">
                    <a:lumMod val="10000"/>
                  </a:schemeClr>
                </a:solidFill>
              </a:rPr>
              <a:t>by Population Age 65+</a:t>
            </a:r>
          </a:p>
        </p:txBody>
      </p:sp>
      <p:sp>
        <p:nvSpPr>
          <p:cNvPr id="37" name="TextBox 36">
            <a:extLst>
              <a:ext uri="{FF2B5EF4-FFF2-40B4-BE49-F238E27FC236}">
                <a16:creationId xmlns:a16="http://schemas.microsoft.com/office/drawing/2014/main" id="{D8D2687D-B0EA-EBB3-5E6A-1B1D61DB97FF}"/>
              </a:ext>
            </a:extLst>
          </p:cNvPr>
          <p:cNvSpPr txBox="1"/>
          <p:nvPr/>
        </p:nvSpPr>
        <p:spPr>
          <a:xfrm>
            <a:off x="22335310" y="24870041"/>
            <a:ext cx="9952696" cy="1938992"/>
          </a:xfrm>
          <a:prstGeom prst="rect">
            <a:avLst/>
          </a:prstGeom>
          <a:solidFill>
            <a:schemeClr val="tx1">
              <a:lumMod val="40000"/>
              <a:lumOff val="60000"/>
            </a:schemeClr>
          </a:solidFill>
        </p:spPr>
        <p:txBody>
          <a:bodyPr wrap="square" rtlCol="0">
            <a:spAutoFit/>
          </a:bodyPr>
          <a:lstStyle/>
          <a:p>
            <a:r>
              <a:rPr lang="en-US" sz="3200" dirty="0"/>
              <a:t>Travis County has 139,903 residents age 65+, yet falls in the lowest preparedness quartile with only 4.0 providers per 10,000 seniors.</a:t>
            </a:r>
          </a:p>
          <a:p>
            <a:endParaRPr lang="en-US" sz="2000" b="1" spc="-150" dirty="0"/>
          </a:p>
        </p:txBody>
      </p:sp>
      <p:sp>
        <p:nvSpPr>
          <p:cNvPr id="38" name="TextBox 37">
            <a:extLst>
              <a:ext uri="{FF2B5EF4-FFF2-40B4-BE49-F238E27FC236}">
                <a16:creationId xmlns:a16="http://schemas.microsoft.com/office/drawing/2014/main" id="{921F13AA-32AC-7864-CC86-13AFFE27C81D}"/>
              </a:ext>
            </a:extLst>
          </p:cNvPr>
          <p:cNvSpPr txBox="1"/>
          <p:nvPr/>
        </p:nvSpPr>
        <p:spPr>
          <a:xfrm>
            <a:off x="12187325" y="31727127"/>
            <a:ext cx="19857729" cy="954107"/>
          </a:xfrm>
          <a:prstGeom prst="rect">
            <a:avLst/>
          </a:prstGeom>
          <a:noFill/>
        </p:spPr>
        <p:txBody>
          <a:bodyPr wrap="square" rtlCol="0">
            <a:spAutoFit/>
          </a:bodyPr>
          <a:lstStyle/>
          <a:p>
            <a:pPr algn="ctr"/>
            <a:r>
              <a:rPr lang="en-US" sz="2800" b="1" i="1" spc="600" dirty="0">
                <a:solidFill>
                  <a:schemeClr val="bg1"/>
                </a:solidFill>
                <a:latin typeface="+mj-lt"/>
              </a:rPr>
              <a:t>Texas growth is increasingly suburban — and aging infrastructure is not keeping pace.</a:t>
            </a:r>
          </a:p>
          <a:p>
            <a:pPr algn="ctr"/>
            <a:endParaRPr lang="en-US" sz="2800" i="1" spc="300" dirty="0">
              <a:solidFill>
                <a:schemeClr val="bg1"/>
              </a:solidFill>
              <a:latin typeface="+mj-lt"/>
            </a:endParaRPr>
          </a:p>
        </p:txBody>
      </p:sp>
      <p:sp>
        <p:nvSpPr>
          <p:cNvPr id="39" name="Text Placeholder 58">
            <a:extLst>
              <a:ext uri="{FF2B5EF4-FFF2-40B4-BE49-F238E27FC236}">
                <a16:creationId xmlns:a16="http://schemas.microsoft.com/office/drawing/2014/main" id="{2F6F93E6-F2D1-71C5-D66A-855CAF7A7805}"/>
              </a:ext>
            </a:extLst>
          </p:cNvPr>
          <p:cNvSpPr txBox="1">
            <a:spLocks/>
          </p:cNvSpPr>
          <p:nvPr/>
        </p:nvSpPr>
        <p:spPr>
          <a:xfrm>
            <a:off x="13715999" y="15148372"/>
            <a:ext cx="42062399" cy="928716"/>
          </a:xfrm>
          <a:prstGeom prst="rect">
            <a:avLst/>
          </a:prstGeom>
        </p:spPr>
        <p:txBody>
          <a:bodyPr>
            <a:spAutoFit/>
          </a:bodyPr>
          <a:lstStyle>
            <a:lvl1pPr marL="0" marR="0" indent="0" algn="l" defTabSz="4389120" rtl="0" eaLnBrk="1" fontAlgn="auto" latinLnBrk="0" hangingPunct="1">
              <a:lnSpc>
                <a:spcPct val="90000"/>
              </a:lnSpc>
              <a:spcBef>
                <a:spcPts val="4800"/>
              </a:spcBef>
              <a:spcAft>
                <a:spcPts val="0"/>
              </a:spcAft>
              <a:buClrTx/>
              <a:buSzTx/>
              <a:buFont typeface="Arial" panose="020B0604020202020204" pitchFamily="34" charset="0"/>
              <a:buNone/>
              <a:tabLst/>
              <a:defRPr sz="6000" kern="1200">
                <a:solidFill>
                  <a:schemeClr val="bg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a:lstStyle>
          <a:p>
            <a:r>
              <a:rPr lang="en-US" dirty="0"/>
              <a:t>A County-Level Analysis of Senior Care Infrastructure</a:t>
            </a:r>
          </a:p>
        </p:txBody>
      </p:sp>
    </p:spTree>
    <p:extLst>
      <p:ext uri="{BB962C8B-B14F-4D97-AF65-F5344CB8AC3E}">
        <p14:creationId xmlns:p14="http://schemas.microsoft.com/office/powerpoint/2010/main" val="3227856433"/>
      </p:ext>
    </p:extLst>
  </p:cSld>
  <p:clrMapOvr>
    <a:masterClrMapping/>
  </p:clrMapOvr>
</p:sld>
</file>

<file path=ppt/theme/theme1.xml><?xml version="1.0" encoding="utf-8"?>
<a:theme xmlns:a="http://schemas.openxmlformats.org/drawingml/2006/main" name="Research Poster">
  <a:themeElements>
    <a:clrScheme name="TXST Dark">
      <a:dk1>
        <a:srgbClr val="363434"/>
      </a:dk1>
      <a:lt1>
        <a:srgbClr val="FFFFFF"/>
      </a:lt1>
      <a:dk2>
        <a:srgbClr val="501214"/>
      </a:dk2>
      <a:lt2>
        <a:srgbClr val="F5F1EE"/>
      </a:lt2>
      <a:accent1>
        <a:srgbClr val="D7BD8A"/>
      </a:accent1>
      <a:accent2>
        <a:srgbClr val="EB2E47"/>
      </a:accent2>
      <a:accent3>
        <a:srgbClr val="6EA095"/>
      </a:accent3>
      <a:accent4>
        <a:srgbClr val="EBBA45"/>
      </a:accent4>
      <a:accent5>
        <a:srgbClr val="EA664D"/>
      </a:accent5>
      <a:accent6>
        <a:srgbClr val="AC9155"/>
      </a:accent6>
      <a:hlink>
        <a:srgbClr val="007096"/>
      </a:hlink>
      <a:folHlink>
        <a:srgbClr val="26672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earch Poster Template 202506" id="{AFA5CD41-DA88-794A-94A0-D0818E14A474}" vid="{7880971C-7176-9C45-A40B-E98BE3FDE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Research Poster Template 202506</Template>
  <TotalTime>1064</TotalTime>
  <Words>949</Words>
  <Application>Microsoft Office PowerPoint</Application>
  <PresentationFormat>Custom</PresentationFormat>
  <Paragraphs>102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 Display</vt:lpstr>
      <vt:lpstr>Arial</vt:lpstr>
      <vt:lpstr>Calibri</vt:lpstr>
      <vt:lpstr>Research Poster</vt:lpstr>
      <vt:lpstr>Is Texas Prepared for Its Aging Population?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Perez, Carlos</dc:creator>
  <cp:lastModifiedBy>Perez, Carlos</cp:lastModifiedBy>
  <cp:revision>8</cp:revision>
  <cp:lastPrinted>2026-02-12T04:03:10Z</cp:lastPrinted>
  <dcterms:created xsi:type="dcterms:W3CDTF">2026-02-11T21:20:55Z</dcterms:created>
  <dcterms:modified xsi:type="dcterms:W3CDTF">2026-02-12T16:56:16Z</dcterms:modified>
</cp:coreProperties>
</file>